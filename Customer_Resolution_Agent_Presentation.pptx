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everyone. Welcome to the presentation of my Assignment 3 project: 'Customer Resolution Agent – AI-Powered Airline Customer Support System'. My name is Vatsal Mittal. In this project, I have designed, implemented, verified, and deployed an autonomous, full-stack customer resolution agent for airline disruption support. It combines modern LLM natural language understanding using Groq's Llama-3.3-70B model with strict, zero-hallucination deterministic policy guardrails based on the Assignment 3 Data Pack. The complete source code is available on GitHub and deployed live on Render.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Slide 2, we examine the problem statement. When flights are delayed or cancelled, airline support lines become overwhelmed with wait times often exceeding 45 minutes. Passengers face confusion regarding refund timelines, meal vouchers, and hotel eligibility. Traditional automated phone menus and generic chatbots fail because they lack empathy and cannot execute actual transactions. On the other hand, unconstrained LLMs are dangerous because they can hallucinate and promise unauthorized refunds. Our proposed solution solves both problems: it uses Groq's high-speed Llama-3.3-70B for natural language understanding and empathy, but routes all decisions through a deterministic policy guardrail engine that strictly enforces airline business rules.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detail the core project objectives. Our goal was not just to make a toy chatbot, but a complete, production-style autonomous customer resolution agent. The eight objectives include natural language understanding, real-time context injection from flight databases, automated benefit calculation for delays and cancellations, two-stage transaction safety, deterministic rule enforcement, automated supervisor escalation, an interactive web UI, and verified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highlights the foundation of our application: the Assignment 3 Data Pack. We have three specific customer profiles: Priya Nair, a Gold tier passenger whose Delhi-Goa flight was cancelled; Arvind Kulkarni, a Silver passenger whose flight to Bengaluru is delayed by 4 hours; and Meher Kaur, a Platinum passenger whose Hyderabad flight is delayed by 6 hours. The right column summarizes the exact rules that govern our policy engine: cancellation rights, graded delay vouchers based on 3-hour and 5-hour thresholds, 7-day refund rules, loyalty priority rebooking, and the ₹1,500 fare waiver cap.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presents the complete system architecture diagram, exactly as built in our codebase. Notice the 6 distinct layers: Layer 1 is the presentation client; Layer 2 is the Gunicorn WSGI web gateway hosted on Render; Layer 3 is the Flask Application Factory; Layer 4 is our Deterministic Policy Guardrail Engine; Layer 5 is the AI Integration Layer using Groq Cloud; and Layer 6 is SQLite persistence. A critical architectural invariant is that the LLM is only used for intent extraction and conversational phrasing; it has zero authority to grant refunds or waive fees. Business logic is strictly enforced in Python.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provides our verified technology stack table. Every single tool listed here is confirmed in the repository and active in production. We use Python 3.11 with Flask 3.1 as our backend, Gunicorn 26 as the production WSGI server, Groq Cloud for Llama-3.3-70B inference, SQLite3 for normalized database persistence, and native vanilla HTML5/CSS/JavaScript for the frontend. We also have a complete 23-test Pytest verification suite.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walks through our 8-step working methodology. When a customer enters a complaint, it travels through the Fetch API to Flask, where prior dialogue history and disruption facts are loaded. Groq's Llama-3.3-70B model extracts intent and emotion. The policy engine then validates the customer's entitlements. Crucially, in Step 6, any irreversible action is placed in 'awaiting_confirmation' status, generating an interactive card in the UI so the user retains final approval.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demonstrates our verification against the three required assignment scenarios. In Scenario 1, Priya's cancellation entitles her to a full refund, but her demand for a free business-class upgrade is strictly blocked and escalated. In Scenario 2, Arvind's 4-hour delay grants him meal vouchers and lounge access, but his hotel request is denied because policy requires a delay over 5 hours. In Scenario 3, Meher's 6-hour delay entitles her to a hotel stay for the delayed hours only, while her request to waive a ₹2,000 fare difference is escalated because it exceeds the agent's ₹1,500 waiver limit.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real, authentic screenshots captured directly from our running application. Top-left shows the homepage with customer profile selector and active flight card. Top-right shows Priya's interaction: notice the in-chat confirmation card asking the customer to approve the refund, along with the supervisor escalation pill. Bottom-left shows Arvind's interaction where meal and lounge benefits are issued, but hotel accommodation is politely denied. Bottom-right shows Meher's interaction where delayed-hours hotel accommodation is granted and the ₹2,000 fare waiver is escalated.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successfully demonstrates that autonomous AI customer support in critical industries like aviation requires a hybrid architecture: pairing high-speed LLM language understanding with strict deterministic policy engines. The project is fully documented, tested with 23 passing pytests, version-controlled on GitHub, and deployed live on Render. Thank you very much for your time.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62895" cy="2743200"/>
          </a:xfrm>
          <a:prstGeom prst="rect">
            <a:avLst/>
          </a:prstGeom>
          <a:noFill/>
        </p:spPr>
        <p:txBody>
          <a:bodyPr wrap="square">
            <a:spAutoFit/>
          </a:bodyPr>
          <a:lstStyle/>
          <a:p>
            <a:pPr>
              <a:spcAft>
                <a:spcPts val="1200"/>
              </a:spcAft>
              <a:defRPr sz="1100" b="1">
                <a:solidFill>
                  <a:srgbClr val="0EA5E9"/>
                </a:solidFill>
                <a:latin typeface="Segoe UI"/>
              </a:defRPr>
            </a:pPr>
            <a:r>
              <a:t>AIRLINE OPERATIONS &amp; AUTONOMOUS AI SUPPORT</a:t>
            </a:r>
          </a:p>
          <a:p>
            <a:pPr>
              <a:spcAft>
                <a:spcPts val="600"/>
              </a:spcAft>
              <a:defRPr sz="3600" b="1">
                <a:solidFill>
                  <a:srgbClr val="FFFFFF"/>
                </a:solidFill>
                <a:latin typeface="Segoe UI"/>
              </a:defRPr>
            </a:pPr>
            <a:r>
              <a:t>Customer Resolution Agent</a:t>
            </a:r>
          </a:p>
          <a:p>
            <a:pPr>
              <a:spcAft>
                <a:spcPts val="1400"/>
              </a:spcAft>
              <a:defRPr sz="2000">
                <a:solidFill>
                  <a:srgbClr val="BFDBFE"/>
                </a:solidFill>
                <a:latin typeface="Segoe UI"/>
              </a:defRPr>
            </a:pPr>
            <a:r>
              <a:t>AI-Powered Airline Customer Support System</a:t>
            </a:r>
          </a:p>
          <a:p>
            <a:pPr>
              <a:defRPr sz="1300" b="1">
                <a:solidFill>
                  <a:srgbClr val="E2E8F0"/>
                </a:solidFill>
                <a:latin typeface="Segoe UI"/>
              </a:defRPr>
            </a:pPr>
            <a:r>
              <a:t>Assignment 3 – Customer-Facing Resolution Agent</a:t>
            </a:r>
          </a:p>
        </p:txBody>
      </p:sp>
      <p:sp>
        <p:nvSpPr>
          <p:cNvPr id="5" name="Rounded Rectangle 4"/>
          <p:cNvSpPr/>
          <p:nvPr/>
        </p:nvSpPr>
        <p:spPr>
          <a:xfrm>
            <a:off x="914400" y="3931920"/>
            <a:ext cx="4937760" cy="2103120"/>
          </a:xfrm>
          <a:prstGeom prst="roundRect">
            <a:avLst/>
          </a:prstGeom>
          <a:solidFill>
            <a:srgbClr val="1E293B"/>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900" b="1">
                <a:solidFill>
                  <a:srgbClr val="0EA5E9"/>
                </a:solidFill>
              </a:defRPr>
            </a:pPr>
            <a:r>
              <a:t>PRESENTED BY</a:t>
            </a:r>
          </a:p>
          <a:p>
            <a:pPr>
              <a:spcAft>
                <a:spcPts val="600"/>
              </a:spcAft>
              <a:defRPr sz="1800" b="1">
                <a:solidFill>
                  <a:srgbClr val="FFFFFF"/>
                </a:solidFill>
              </a:defRPr>
            </a:pPr>
            <a:r>
              <a:t>Vatsal Mittal</a:t>
            </a:r>
          </a:p>
          <a:p>
            <a:pPr>
              <a:defRPr sz="950">
                <a:solidFill>
                  <a:srgbClr val="CBD5E1"/>
                </a:solidFill>
              </a:defRPr>
            </a:pPr>
            <a:r>
              <a:t>Technologies Used: Python 3.11 · Flask 3.1 · Groq Llama-3.3-70B</a:t>
            </a:r>
            <a:br/>
            <a:r>
              <a:t>SQLite3 · HTML5 / CSS3 / JavaScript · Render Cloud</a:t>
            </a:r>
          </a:p>
        </p:txBody>
      </p:sp>
      <p:sp>
        <p:nvSpPr>
          <p:cNvPr id="6" name="Rounded Rectangle 5"/>
          <p:cNvSpPr/>
          <p:nvPr/>
        </p:nvSpPr>
        <p:spPr>
          <a:xfrm>
            <a:off x="6217920" y="3931920"/>
            <a:ext cx="5029200" cy="2103120"/>
          </a:xfrm>
          <a:prstGeom prst="roundRect">
            <a:avLst/>
          </a:prstGeom>
          <a:solidFill>
            <a:srgbClr val="1E293B"/>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900" b="1">
                <a:solidFill>
                  <a:srgbClr val="0EA5E9"/>
                </a:solidFill>
              </a:defRPr>
            </a:pPr>
            <a:r>
              <a:t>PROJECT REPOSITORY &amp; LIVE ACCESS</a:t>
            </a:r>
          </a:p>
          <a:p>
            <a:pPr>
              <a:defRPr sz="1000" b="1">
                <a:solidFill>
                  <a:srgbClr val="FFFFFF"/>
                </a:solidFill>
              </a:defRPr>
            </a:pPr>
            <a:r>
              <a:t>GitHub Repository:</a:t>
            </a:r>
          </a:p>
          <a:p>
            <a:pPr>
              <a:spcAft>
                <a:spcPts val="600"/>
              </a:spcAft>
              <a:defRPr sz="900">
                <a:solidFill>
                  <a:srgbClr val="93C5FD"/>
                </a:solidFill>
              </a:defRPr>
            </a:pPr>
            <a:r>
              <a:t>https://github.com/vatsa2912/customer-resolution-agent</a:t>
            </a:r>
          </a:p>
          <a:p>
            <a:pPr>
              <a:defRPr sz="1000" b="1">
                <a:solidFill>
                  <a:srgbClr val="FFFFFF"/>
                </a:solidFill>
              </a:defRPr>
            </a:pPr>
            <a:r>
              <a:t>Live Deployed Application (Render Free Service):</a:t>
            </a:r>
          </a:p>
          <a:p>
            <a:pPr>
              <a:defRPr sz="900">
                <a:solidFill>
                  <a:srgbClr val="93C5FD"/>
                </a:solidFill>
              </a:defRPr>
            </a:pPr>
            <a:r>
              <a:t>https://customer-resolution-agent-v1.onrender.com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CONTEXT &amp; MOTIVATION</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Problem Statement: The Airline Disruption Dilemma</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2 of 10</a:t>
            </a:r>
          </a:p>
        </p:txBody>
      </p:sp>
      <p:sp>
        <p:nvSpPr>
          <p:cNvPr id="8" name="Rounded Rectangle 7"/>
          <p:cNvSpPr/>
          <p:nvPr/>
        </p:nvSpPr>
        <p:spPr>
          <a:xfrm>
            <a:off x="731520" y="146304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4937760" cy="365760"/>
          </a:xfrm>
          <a:prstGeom prst="rect">
            <a:avLst/>
          </a:prstGeom>
          <a:noFill/>
        </p:spPr>
        <p:txBody>
          <a:bodyPr wrap="none">
            <a:spAutoFit/>
          </a:bodyPr>
          <a:lstStyle/>
          <a:p>
            <a:pPr>
              <a:defRPr sz="1100" b="1">
                <a:solidFill>
                  <a:srgbClr val="1E3A8A"/>
                </a:solidFill>
                <a:latin typeface="Segoe UI"/>
              </a:defRPr>
            </a:pPr>
            <a:r>
              <a:t>Common Airline Customer Problems</a:t>
            </a:r>
          </a:p>
        </p:txBody>
      </p:sp>
      <p:sp>
        <p:nvSpPr>
          <p:cNvPr id="10" name="TextBox 9"/>
          <p:cNvSpPr txBox="1"/>
          <p:nvPr/>
        </p:nvSpPr>
        <p:spPr>
          <a:xfrm>
            <a:off x="868680" y="1920240"/>
            <a:ext cx="4937760" cy="4114800"/>
          </a:xfrm>
          <a:prstGeom prst="rect">
            <a:avLst/>
          </a:prstGeom>
          <a:noFill/>
        </p:spPr>
        <p:txBody>
          <a:bodyPr wrap="square">
            <a:spAutoFit/>
          </a:bodyPr>
          <a:lstStyle/>
          <a:p>
            <a:pPr>
              <a:spcAft>
                <a:spcPts val="500"/>
              </a:spcAft>
              <a:defRPr sz="950">
                <a:solidFill>
                  <a:srgbClr val="475569"/>
                </a:solidFill>
                <a:latin typeface="Segoe UI"/>
              </a:defRPr>
            </a:pPr>
            <a:r>
              <a:t>• Flight Delays: Uncertain wait times, cascading connection losses, lack of timely compensation.</a:t>
            </a:r>
          </a:p>
          <a:p>
            <a:pPr>
              <a:spcAft>
                <a:spcPts val="500"/>
              </a:spcAft>
              <a:defRPr sz="950">
                <a:solidFill>
                  <a:srgbClr val="475569"/>
                </a:solidFill>
                <a:latin typeface="Segoe UI"/>
              </a:defRPr>
            </a:pPr>
            <a:r>
              <a:t>• Flight Cancellations: Immediate passenger distress requiring prompt rebooking or full cash refunds.</a:t>
            </a:r>
          </a:p>
          <a:p>
            <a:pPr>
              <a:spcAft>
                <a:spcPts val="500"/>
              </a:spcAft>
              <a:defRPr sz="950">
                <a:solidFill>
                  <a:srgbClr val="475569"/>
                </a:solidFill>
                <a:latin typeface="Segoe UI"/>
              </a:defRPr>
            </a:pPr>
            <a:r>
              <a:t>• Refund Requests: Manual delays (weeks), opaque policies, payment method discrepancies.</a:t>
            </a:r>
          </a:p>
          <a:p>
            <a:pPr>
              <a:spcAft>
                <a:spcPts val="500"/>
              </a:spcAft>
              <a:defRPr sz="950">
                <a:solidFill>
                  <a:srgbClr val="475569"/>
                </a:solidFill>
                <a:latin typeface="Segoe UI"/>
              </a:defRPr>
            </a:pPr>
            <a:r>
              <a:t>• Baggage Issues: Mishandled or delayed baggage queries causing passenger anxiety.</a:t>
            </a:r>
          </a:p>
          <a:p>
            <a:pPr>
              <a:spcAft>
                <a:spcPts val="500"/>
              </a:spcAft>
              <a:defRPr sz="950">
                <a:solidFill>
                  <a:srgbClr val="475569"/>
                </a:solidFill>
                <a:latin typeface="Segoe UI"/>
              </a:defRPr>
            </a:pPr>
            <a:r>
              <a:t>• Rebooking Requests: Friction in finding alternate flights and dispute over fare difference fees.</a:t>
            </a:r>
          </a:p>
          <a:p>
            <a:pPr>
              <a:spcAft>
                <a:spcPts val="500"/>
              </a:spcAft>
              <a:defRPr sz="950">
                <a:solidFill>
                  <a:srgbClr val="475569"/>
                </a:solidFill>
                <a:latin typeface="Segoe UI"/>
              </a:defRPr>
            </a:pPr>
            <a:r>
              <a:t>• Compensation Queries: Confusion between statutory entitlements and discretionary goodwill gestures.</a:t>
            </a:r>
          </a:p>
          <a:p>
            <a:pPr>
              <a:spcAft>
                <a:spcPts val="500"/>
              </a:spcAft>
              <a:defRPr sz="950">
                <a:solidFill>
                  <a:srgbClr val="475569"/>
                </a:solidFill>
                <a:latin typeface="Segoe UI"/>
              </a:defRPr>
            </a:pPr>
            <a:r>
              <a:t>• The Core Need: A fast, 24/7, consistent support system that eliminates 45+ minute phone hold queues during weather or technical emergencies.</a:t>
            </a:r>
          </a:p>
        </p:txBody>
      </p:sp>
      <p:sp>
        <p:nvSpPr>
          <p:cNvPr id="11" name="Rounded Rectangle 10"/>
          <p:cNvSpPr/>
          <p:nvPr/>
        </p:nvSpPr>
        <p:spPr>
          <a:xfrm>
            <a:off x="6217920" y="1463040"/>
            <a:ext cx="5212080" cy="4663440"/>
          </a:xfrm>
          <a:prstGeom prst="roundRect">
            <a:avLst/>
          </a:prstGeom>
          <a:solidFill>
            <a:srgbClr val="EFF6FF"/>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554480"/>
            <a:ext cx="4937760" cy="365760"/>
          </a:xfrm>
          <a:prstGeom prst="rect">
            <a:avLst/>
          </a:prstGeom>
          <a:noFill/>
        </p:spPr>
        <p:txBody>
          <a:bodyPr wrap="none">
            <a:spAutoFit/>
          </a:bodyPr>
          <a:lstStyle/>
          <a:p>
            <a:pPr>
              <a:defRPr sz="1100" b="1">
                <a:solidFill>
                  <a:srgbClr val="1E3A8A"/>
                </a:solidFill>
                <a:latin typeface="Segoe UI"/>
              </a:defRPr>
            </a:pPr>
            <a:r>
              <a:t>How Our AI Resolution Agent Addresses These</a:t>
            </a:r>
          </a:p>
        </p:txBody>
      </p:sp>
      <p:sp>
        <p:nvSpPr>
          <p:cNvPr id="13" name="TextBox 12"/>
          <p:cNvSpPr txBox="1"/>
          <p:nvPr/>
        </p:nvSpPr>
        <p:spPr>
          <a:xfrm>
            <a:off x="6355080" y="1920240"/>
            <a:ext cx="4937760" cy="4114800"/>
          </a:xfrm>
          <a:prstGeom prst="rect">
            <a:avLst/>
          </a:prstGeom>
          <a:noFill/>
        </p:spPr>
        <p:txBody>
          <a:bodyPr wrap="square">
            <a:spAutoFit/>
          </a:bodyPr>
          <a:lstStyle/>
          <a:p>
            <a:pPr>
              <a:spcAft>
                <a:spcPts val="600"/>
              </a:spcAft>
              <a:defRPr sz="950">
                <a:solidFill>
                  <a:srgbClr val="1E3A8A"/>
                </a:solidFill>
                <a:latin typeface="Segoe UI"/>
              </a:defRPr>
            </a:pPr>
            <a:r>
              <a:t>✓ Instant Empathy &amp; NLP: Groq Llama-3.3-70B interprets emotional tone, distress, and explicit demands immediately without canned robot phrases.</a:t>
            </a:r>
          </a:p>
          <a:p>
            <a:pPr>
              <a:spcAft>
                <a:spcPts val="600"/>
              </a:spcAft>
              <a:defRPr sz="950">
                <a:solidFill>
                  <a:srgbClr val="1E3A8A"/>
                </a:solidFill>
                <a:latin typeface="Segoe UI"/>
              </a:defRPr>
            </a:pPr>
            <a:r>
              <a:t>✓ Deterministic Policy Guardrails: Business rules are strictly decoupled from LLM generation. The AI cannot invent unauthorized compensation or waive restricted fees.</a:t>
            </a:r>
          </a:p>
          <a:p>
            <a:pPr>
              <a:spcAft>
                <a:spcPts val="600"/>
              </a:spcAft>
              <a:defRPr sz="950">
                <a:solidFill>
                  <a:srgbClr val="1E3A8A"/>
                </a:solidFill>
                <a:latin typeface="Segoe UI"/>
              </a:defRPr>
            </a:pPr>
            <a:r>
              <a:t>✓ Two-Stage Transaction Safety: Financial refunds and flight rebookings require explicit customer confirmation cards before database execution.</a:t>
            </a:r>
          </a:p>
          <a:p>
            <a:pPr>
              <a:spcAft>
                <a:spcPts val="600"/>
              </a:spcAft>
              <a:defRPr sz="950">
                <a:solidFill>
                  <a:srgbClr val="1E3A8A"/>
                </a:solidFill>
                <a:latin typeface="Segoe UI"/>
              </a:defRPr>
            </a:pPr>
            <a:r>
              <a:t>✓ Tier-Aware Personalization: Instantly looks up passenger tier (Gold, Platinum, Silver) to award priority rebooking as mandated by airline policy.</a:t>
            </a:r>
          </a:p>
          <a:p>
            <a:pPr>
              <a:spcAft>
                <a:spcPts val="600"/>
              </a:spcAft>
              <a:defRPr sz="950">
                <a:solidFill>
                  <a:srgbClr val="1E3A8A"/>
                </a:solidFill>
                <a:latin typeface="Segoe UI"/>
              </a:defRPr>
            </a:pPr>
            <a:r>
              <a:t>✓ Automated Supervisor Escalation: Intelligently flags legal threats, cabin upgrades, and fare waivers over ₹1,500 into human review queues.</a:t>
            </a:r>
          </a:p>
          <a:p>
            <a:pPr>
              <a:spcAft>
                <a:spcPts val="600"/>
              </a:spcAft>
              <a:defRPr sz="950">
                <a:solidFill>
                  <a:srgbClr val="1E3A8A"/>
                </a:solidFill>
                <a:latin typeface="Segoe UI"/>
              </a:defRPr>
            </a:pPr>
            <a:r>
              <a:t>✓ Full Auditability &amp; Telemetry: Every decision, tool execution, and policy citation is permanently logged in SQLite for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SYSTEM SCOPE</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Project Objectives: Core Functional &amp; Technical Goals</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3 of 10</a:t>
            </a:r>
          </a:p>
        </p:txBody>
      </p:sp>
      <p:sp>
        <p:nvSpPr>
          <p:cNvPr id="8" name="Rounded Rectangle 7"/>
          <p:cNvSpPr/>
          <p:nvPr/>
        </p:nvSpPr>
        <p:spPr>
          <a:xfrm>
            <a:off x="731520" y="146304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5029200" cy="914400"/>
          </a:xfrm>
          <a:prstGeom prst="rect">
            <a:avLst/>
          </a:prstGeom>
          <a:noFill/>
        </p:spPr>
        <p:txBody>
          <a:bodyPr wrap="square">
            <a:spAutoFit/>
          </a:bodyPr>
          <a:lstStyle/>
          <a:p>
            <a:pPr>
              <a:defRPr sz="1100" b="1">
                <a:solidFill>
                  <a:srgbClr val="1E3A8A"/>
                </a:solidFill>
                <a:latin typeface="Segoe UI"/>
              </a:defRPr>
            </a:pPr>
            <a:r>
              <a:t>1. Autonomous AI Agent</a:t>
            </a:r>
          </a:p>
          <a:p>
            <a:pPr>
              <a:defRPr sz="850">
                <a:solidFill>
                  <a:srgbClr val="475569"/>
                </a:solidFill>
                <a:latin typeface="Segoe UI"/>
              </a:defRPr>
            </a:pPr>
            <a:r>
              <a:t>Build a conversational agent powered by Groq Llama-3.3-70B capable of multi-turn dialogue, understanding natural speech, and extracting customer distress.</a:t>
            </a:r>
          </a:p>
        </p:txBody>
      </p:sp>
      <p:sp>
        <p:nvSpPr>
          <p:cNvPr id="10" name="Rounded Rectangle 9"/>
          <p:cNvSpPr/>
          <p:nvPr/>
        </p:nvSpPr>
        <p:spPr>
          <a:xfrm>
            <a:off x="6172200" y="146304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54480"/>
            <a:ext cx="5029200" cy="914400"/>
          </a:xfrm>
          <a:prstGeom prst="rect">
            <a:avLst/>
          </a:prstGeom>
          <a:noFill/>
        </p:spPr>
        <p:txBody>
          <a:bodyPr wrap="square">
            <a:spAutoFit/>
          </a:bodyPr>
          <a:lstStyle/>
          <a:p>
            <a:pPr>
              <a:defRPr sz="1100" b="1">
                <a:solidFill>
                  <a:srgbClr val="1E3A8A"/>
                </a:solidFill>
                <a:latin typeface="Segoe UI"/>
              </a:defRPr>
            </a:pPr>
            <a:r>
              <a:t>2. Real-Time Flight &amp; PNR Context</a:t>
            </a:r>
          </a:p>
          <a:p>
            <a:pPr>
              <a:defRPr sz="850">
                <a:solidFill>
                  <a:srgbClr val="475569"/>
                </a:solidFill>
                <a:latin typeface="Segoe UI"/>
              </a:defRPr>
            </a:pPr>
            <a:r>
              <a:t>Retrieve booking references, flight schedules, disruption reasons (weather, operational, technical), and customer tier status on demand.</a:t>
            </a:r>
          </a:p>
        </p:txBody>
      </p:sp>
      <p:sp>
        <p:nvSpPr>
          <p:cNvPr id="12" name="Rounded Rectangle 11"/>
          <p:cNvSpPr/>
          <p:nvPr/>
        </p:nvSpPr>
        <p:spPr>
          <a:xfrm>
            <a:off x="731520" y="265176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743200"/>
            <a:ext cx="5029200" cy="914400"/>
          </a:xfrm>
          <a:prstGeom prst="rect">
            <a:avLst/>
          </a:prstGeom>
          <a:noFill/>
        </p:spPr>
        <p:txBody>
          <a:bodyPr wrap="square">
            <a:spAutoFit/>
          </a:bodyPr>
          <a:lstStyle/>
          <a:p>
            <a:pPr>
              <a:defRPr sz="1100" b="1">
                <a:solidFill>
                  <a:srgbClr val="1E3A8A"/>
                </a:solidFill>
                <a:latin typeface="Segoe UI"/>
              </a:defRPr>
            </a:pPr>
            <a:r>
              <a:t>3. Delay &amp; Cancellation Mastery</a:t>
            </a:r>
          </a:p>
          <a:p>
            <a:pPr>
              <a:defRPr sz="850">
                <a:solidFill>
                  <a:srgbClr val="475569"/>
                </a:solidFill>
                <a:latin typeface="Segoe UI"/>
              </a:defRPr>
            </a:pPr>
            <a:r>
              <a:t>Compute exact entitled benefits (₹500 vouchers, lounge passes, delayed-hours hotel stays) based strictly on delay thresholds.</a:t>
            </a:r>
          </a:p>
        </p:txBody>
      </p:sp>
      <p:sp>
        <p:nvSpPr>
          <p:cNvPr id="14" name="Rounded Rectangle 13"/>
          <p:cNvSpPr/>
          <p:nvPr/>
        </p:nvSpPr>
        <p:spPr>
          <a:xfrm>
            <a:off x="6172200" y="265176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743200"/>
            <a:ext cx="5029200" cy="914400"/>
          </a:xfrm>
          <a:prstGeom prst="rect">
            <a:avLst/>
          </a:prstGeom>
          <a:noFill/>
        </p:spPr>
        <p:txBody>
          <a:bodyPr wrap="square">
            <a:spAutoFit/>
          </a:bodyPr>
          <a:lstStyle/>
          <a:p>
            <a:pPr>
              <a:defRPr sz="1100" b="1">
                <a:solidFill>
                  <a:srgbClr val="1E3A8A"/>
                </a:solidFill>
                <a:latin typeface="Segoe UI"/>
              </a:defRPr>
            </a:pPr>
            <a:r>
              <a:t>4. Safe Refund &amp; Rebooking Lifecycle</a:t>
            </a:r>
          </a:p>
          <a:p>
            <a:pPr>
              <a:defRPr sz="850">
                <a:solidFill>
                  <a:srgbClr val="475569"/>
                </a:solidFill>
                <a:latin typeface="Segoe UI"/>
              </a:defRPr>
            </a:pPr>
            <a:r>
              <a:t>Provide end-to-end guidance with two-stage confirmation cards, ensuring irreversible financial operations are approved by the user.</a:t>
            </a:r>
          </a:p>
        </p:txBody>
      </p:sp>
      <p:sp>
        <p:nvSpPr>
          <p:cNvPr id="16" name="Rounded Rectangle 15"/>
          <p:cNvSpPr/>
          <p:nvPr/>
        </p:nvSpPr>
        <p:spPr>
          <a:xfrm>
            <a:off x="731520" y="384048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931920"/>
            <a:ext cx="5029200" cy="914400"/>
          </a:xfrm>
          <a:prstGeom prst="rect">
            <a:avLst/>
          </a:prstGeom>
          <a:noFill/>
        </p:spPr>
        <p:txBody>
          <a:bodyPr wrap="square">
            <a:spAutoFit/>
          </a:bodyPr>
          <a:lstStyle/>
          <a:p>
            <a:pPr>
              <a:defRPr sz="1100" b="1">
                <a:solidFill>
                  <a:srgbClr val="1E3A8A"/>
                </a:solidFill>
                <a:latin typeface="Segoe UI"/>
              </a:defRPr>
            </a:pPr>
            <a:r>
              <a:t>5. Strict Policy Guardrail Enforcement</a:t>
            </a:r>
          </a:p>
          <a:p>
            <a:pPr>
              <a:defRPr sz="850">
                <a:solidFill>
                  <a:srgbClr val="475569"/>
                </a:solidFill>
                <a:latin typeface="Segoe UI"/>
              </a:defRPr>
            </a:pPr>
            <a:r>
              <a:t>Enforce deterministic airline policies where business rules override LLM suggestions, preventing unauthorized perks or hallucinated refunds.</a:t>
            </a:r>
          </a:p>
        </p:txBody>
      </p:sp>
      <p:sp>
        <p:nvSpPr>
          <p:cNvPr id="18" name="Rounded Rectangle 17"/>
          <p:cNvSpPr/>
          <p:nvPr/>
        </p:nvSpPr>
        <p:spPr>
          <a:xfrm>
            <a:off x="6172200" y="384048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931920"/>
            <a:ext cx="5029200" cy="914400"/>
          </a:xfrm>
          <a:prstGeom prst="rect">
            <a:avLst/>
          </a:prstGeom>
          <a:noFill/>
        </p:spPr>
        <p:txBody>
          <a:bodyPr wrap="square">
            <a:spAutoFit/>
          </a:bodyPr>
          <a:lstStyle/>
          <a:p>
            <a:pPr>
              <a:defRPr sz="1100" b="1">
                <a:solidFill>
                  <a:srgbClr val="1E3A8A"/>
                </a:solidFill>
                <a:latin typeface="Segoe UI"/>
              </a:defRPr>
            </a:pPr>
            <a:r>
              <a:t>6. Intelligent Supervisor Escalation</a:t>
            </a:r>
          </a:p>
          <a:p>
            <a:pPr>
              <a:defRPr sz="850">
                <a:solidFill>
                  <a:srgbClr val="475569"/>
                </a:solidFill>
                <a:latin typeface="Segoe UI"/>
              </a:defRPr>
            </a:pPr>
            <a:r>
              <a:t>Detect out-of-policy demands (cabin upgrades, fare difference &gt; ₹1,500, legal threats) and automatically route them to supervisor queues.</a:t>
            </a:r>
          </a:p>
        </p:txBody>
      </p:sp>
      <p:sp>
        <p:nvSpPr>
          <p:cNvPr id="20" name="Rounded Rectangle 19"/>
          <p:cNvSpPr/>
          <p:nvPr/>
        </p:nvSpPr>
        <p:spPr>
          <a:xfrm>
            <a:off x="731520" y="502920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120640"/>
            <a:ext cx="5029200" cy="914400"/>
          </a:xfrm>
          <a:prstGeom prst="rect">
            <a:avLst/>
          </a:prstGeom>
          <a:noFill/>
        </p:spPr>
        <p:txBody>
          <a:bodyPr wrap="square">
            <a:spAutoFit/>
          </a:bodyPr>
          <a:lstStyle/>
          <a:p>
            <a:pPr>
              <a:defRPr sz="1100" b="1">
                <a:solidFill>
                  <a:srgbClr val="1E3A8A"/>
                </a:solidFill>
                <a:latin typeface="Segoe UI"/>
              </a:defRPr>
            </a:pPr>
            <a:r>
              <a:t>7. Responsive Web Console &amp; UI</a:t>
            </a:r>
          </a:p>
          <a:p>
            <a:pPr>
              <a:defRPr sz="850">
                <a:solidFill>
                  <a:srgbClr val="475569"/>
                </a:solidFill>
                <a:latin typeface="Segoe UI"/>
              </a:defRPr>
            </a:pPr>
            <a:r>
              <a:t>Deliver a polished 3-panel dashboard (customer profile, live chat stream, real-time action &amp; escalation telemetry) with zero frontend overhead.</a:t>
            </a:r>
          </a:p>
        </p:txBody>
      </p:sp>
      <p:sp>
        <p:nvSpPr>
          <p:cNvPr id="22" name="Rounded Rectangle 21"/>
          <p:cNvSpPr/>
          <p:nvPr/>
        </p:nvSpPr>
        <p:spPr>
          <a:xfrm>
            <a:off x="6172200" y="502920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5120640"/>
            <a:ext cx="5029200" cy="914400"/>
          </a:xfrm>
          <a:prstGeom prst="rect">
            <a:avLst/>
          </a:prstGeom>
          <a:noFill/>
        </p:spPr>
        <p:txBody>
          <a:bodyPr wrap="square">
            <a:spAutoFit/>
          </a:bodyPr>
          <a:lstStyle/>
          <a:p>
            <a:pPr>
              <a:defRPr sz="1100" b="1">
                <a:solidFill>
                  <a:srgbClr val="1E3A8A"/>
                </a:solidFill>
                <a:latin typeface="Segoe UI"/>
              </a:defRPr>
            </a:pPr>
            <a:r>
              <a:t>8. Cloud Deployment &amp; Verification</a:t>
            </a:r>
          </a:p>
          <a:p>
            <a:pPr>
              <a:defRPr sz="850">
                <a:solidFill>
                  <a:srgbClr val="475569"/>
                </a:solidFill>
                <a:latin typeface="Segoe UI"/>
              </a:defRPr>
            </a:pPr>
            <a:r>
              <a:t>Containerize and deploy the full-stack system onto Render Free Web Service with complete automated test coverage (23/23 passing pytest tests).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DOMAIN SPECIFICATIONS</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Dataset &amp; Business Rules (Assignment 3 Data Pack)</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4 of 10</a:t>
            </a:r>
          </a:p>
        </p:txBody>
      </p:sp>
      <p:sp>
        <p:nvSpPr>
          <p:cNvPr id="8" name="Rectangle 7"/>
          <p:cNvSpPr/>
          <p:nvPr/>
        </p:nvSpPr>
        <p:spPr>
          <a:xfrm>
            <a:off x="731520" y="1417320"/>
            <a:ext cx="10728655" cy="365760"/>
          </a:xfrm>
          <a:prstGeom prst="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E3A8A"/>
                </a:solidFill>
                <a:latin typeface="Segoe UI"/>
              </a:defRPr>
            </a:pPr>
            <a:r>
              <a:t>Official Airline Disruption Data Pack · Ground-Truth Customer Profiles &amp; Mandatory Service Policies</a:t>
            </a:r>
          </a:p>
        </p:txBody>
      </p:sp>
      <p:sp>
        <p:nvSpPr>
          <p:cNvPr id="9" name="Rounded Rectangle 8"/>
          <p:cNvSpPr/>
          <p:nvPr/>
        </p:nvSpPr>
        <p:spPr>
          <a:xfrm>
            <a:off x="731520" y="1920240"/>
            <a:ext cx="521208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11680"/>
            <a:ext cx="4937760" cy="365760"/>
          </a:xfrm>
          <a:prstGeom prst="rect">
            <a:avLst/>
          </a:prstGeom>
          <a:noFill/>
        </p:spPr>
        <p:txBody>
          <a:bodyPr wrap="none">
            <a:spAutoFit/>
          </a:bodyPr>
          <a:lstStyle/>
          <a:p>
            <a:pPr>
              <a:defRPr sz="1100" b="1">
                <a:solidFill>
                  <a:srgbClr val="1E3A8A"/>
                </a:solidFill>
                <a:latin typeface="Segoe UI"/>
              </a:defRPr>
            </a:pPr>
            <a:r>
              <a:t>Three Customer Profiles in Dataset</a:t>
            </a:r>
          </a:p>
        </p:txBody>
      </p:sp>
      <p:sp>
        <p:nvSpPr>
          <p:cNvPr id="11" name="TextBox 10"/>
          <p:cNvSpPr txBox="1"/>
          <p:nvPr/>
        </p:nvSpPr>
        <p:spPr>
          <a:xfrm>
            <a:off x="868680" y="2331720"/>
            <a:ext cx="4937760" cy="3749039"/>
          </a:xfrm>
          <a:prstGeom prst="rect">
            <a:avLst/>
          </a:prstGeom>
          <a:noFill/>
        </p:spPr>
        <p:txBody>
          <a:bodyPr wrap="square">
            <a:spAutoFit/>
          </a:bodyPr>
          <a:lstStyle/>
          <a:p>
            <a:pPr>
              <a:defRPr sz="1000" b="1">
                <a:solidFill>
                  <a:srgbClr val="1E3A8A"/>
                </a:solidFill>
                <a:latin typeface="Segoe UI"/>
              </a:defRPr>
            </a:pPr>
            <a:r>
              <a:t>👤 Priya Nair (Gold Tier)</a:t>
            </a:r>
          </a:p>
          <a:p>
            <a:pPr>
              <a:defRPr sz="850" b="1">
                <a:solidFill>
                  <a:srgbClr val="1D4ED8"/>
                </a:solidFill>
                <a:latin typeface="Segoe UI"/>
              </a:defRPr>
            </a:pPr>
            <a:r>
              <a:t>Booking: SK4821X | Flight: SK-204 (Delhi ➔ Goa)</a:t>
            </a:r>
          </a:p>
          <a:p>
            <a:pPr>
              <a:spcAft>
                <a:spcPts val="600"/>
              </a:spcAft>
              <a:defRPr sz="800">
                <a:solidFill>
                  <a:srgbClr val="475569"/>
                </a:solidFill>
                <a:latin typeface="Segoe UI"/>
              </a:defRPr>
            </a:pPr>
            <a:r>
              <a:t>Status: Cancelled due to operational reasons. History: 6 flights in 12m, 1 prior complaint. Request: Full refund + free business class upgrade.</a:t>
            </a:r>
          </a:p>
          <a:p>
            <a:pPr>
              <a:defRPr sz="1000" b="1">
                <a:solidFill>
                  <a:srgbClr val="1E3A8A"/>
                </a:solidFill>
                <a:latin typeface="Segoe UI"/>
              </a:defRPr>
            </a:pPr>
            <a:r>
              <a:t>👤 Arvind Kulkarni (Silver Tier)</a:t>
            </a:r>
          </a:p>
          <a:p>
            <a:pPr>
              <a:defRPr sz="850" b="1">
                <a:solidFill>
                  <a:srgbClr val="1D4ED8"/>
                </a:solidFill>
                <a:latin typeface="Segoe UI"/>
              </a:defRPr>
            </a:pPr>
            <a:r>
              <a:t>Booking: TR1190B | Flight: SK-118 (Mumbai ➔ Bengaluru)</a:t>
            </a:r>
          </a:p>
          <a:p>
            <a:pPr>
              <a:spcAft>
                <a:spcPts val="600"/>
              </a:spcAft>
              <a:defRPr sz="800">
                <a:solidFill>
                  <a:srgbClr val="475569"/>
                </a:solidFill>
                <a:latin typeface="Segoe UI"/>
              </a:defRPr>
            </a:pPr>
            <a:r>
              <a:t>Status: 4-Hour Delay (Weather/ATC). New Dep: 11:10. History: 3 flights, no prior complaints. Request: Hotel accommodation for missed meeting.</a:t>
            </a:r>
          </a:p>
          <a:p>
            <a:pPr>
              <a:defRPr sz="1000" b="1">
                <a:solidFill>
                  <a:srgbClr val="1E3A8A"/>
                </a:solidFill>
                <a:latin typeface="Segoe UI"/>
              </a:defRPr>
            </a:pPr>
            <a:r>
              <a:t>👤 Meher Kaur (Platinum Tier)</a:t>
            </a:r>
          </a:p>
          <a:p>
            <a:pPr>
              <a:defRPr sz="850" b="1">
                <a:solidFill>
                  <a:srgbClr val="1D4ED8"/>
                </a:solidFill>
                <a:latin typeface="Segoe UI"/>
              </a:defRPr>
            </a:pPr>
            <a:r>
              <a:t>Booking: WL7742 | Flight: SK-305 (Delhi ➔ Hyderabad)</a:t>
            </a:r>
          </a:p>
          <a:p>
            <a:pPr>
              <a:spcAft>
                <a:spcPts val="600"/>
              </a:spcAft>
              <a:defRPr sz="800">
                <a:solidFill>
                  <a:srgbClr val="475569"/>
                </a:solidFill>
                <a:latin typeface="Segoe UI"/>
              </a:defRPr>
            </a:pPr>
            <a:r>
              <a:t>Status: 6-Hour Delay (Technical). New Dep: 20:00. History: 10 flights, 1 prior overbooking complaint. Request: Full-night hotel + ₹2,000 fare waiver.</a:t>
            </a:r>
          </a:p>
        </p:txBody>
      </p:sp>
      <p:sp>
        <p:nvSpPr>
          <p:cNvPr id="12" name="Rounded Rectangle 11"/>
          <p:cNvSpPr/>
          <p:nvPr/>
        </p:nvSpPr>
        <p:spPr>
          <a:xfrm>
            <a:off x="6217920" y="1920240"/>
            <a:ext cx="521208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011680"/>
            <a:ext cx="4937760" cy="365760"/>
          </a:xfrm>
          <a:prstGeom prst="rect">
            <a:avLst/>
          </a:prstGeom>
          <a:noFill/>
        </p:spPr>
        <p:txBody>
          <a:bodyPr wrap="none">
            <a:spAutoFit/>
          </a:bodyPr>
          <a:lstStyle/>
          <a:p>
            <a:pPr>
              <a:defRPr sz="1100" b="1">
                <a:solidFill>
                  <a:srgbClr val="1E3A8A"/>
                </a:solidFill>
                <a:latin typeface="Segoe UI"/>
              </a:defRPr>
            </a:pPr>
            <a:r>
              <a:t>Mandatory Airline Service Policies</a:t>
            </a:r>
          </a:p>
        </p:txBody>
      </p:sp>
      <p:sp>
        <p:nvSpPr>
          <p:cNvPr id="14" name="TextBox 13"/>
          <p:cNvSpPr txBox="1"/>
          <p:nvPr/>
        </p:nvSpPr>
        <p:spPr>
          <a:xfrm>
            <a:off x="6355080" y="2331720"/>
            <a:ext cx="4937760" cy="3749039"/>
          </a:xfrm>
          <a:prstGeom prst="rect">
            <a:avLst/>
          </a:prstGeom>
          <a:noFill/>
        </p:spPr>
        <p:txBody>
          <a:bodyPr wrap="square">
            <a:spAutoFit/>
          </a:bodyPr>
          <a:lstStyle/>
          <a:p>
            <a:pPr>
              <a:spcAft>
                <a:spcPts val="400"/>
              </a:spcAft>
              <a:defRPr sz="800">
                <a:solidFill>
                  <a:srgbClr val="475569"/>
                </a:solidFill>
                <a:latin typeface="Segoe UI"/>
              </a:defRPr>
            </a:pPr>
            <a:r>
              <a:t>• POL-CANCEL-01 (Flight Cancellation): Entitled to free rebooking on next available flight within 24 hours OR a full 100% refund.</a:t>
            </a:r>
          </a:p>
          <a:p>
            <a:pPr>
              <a:spcAft>
                <a:spcPts val="400"/>
              </a:spcAft>
              <a:defRPr sz="800">
                <a:solidFill>
                  <a:srgbClr val="475569"/>
                </a:solidFill>
                <a:latin typeface="Segoe UI"/>
              </a:defRPr>
            </a:pPr>
            <a:r>
              <a:t>• POL-DELAY-01 (Delay &lt; 3 Hours): Entitled to a complimentary ₹500 meal voucher only.</a:t>
            </a:r>
          </a:p>
          <a:p>
            <a:pPr>
              <a:spcAft>
                <a:spcPts val="400"/>
              </a:spcAft>
              <a:defRPr sz="800">
                <a:solidFill>
                  <a:srgbClr val="475569"/>
                </a:solidFill>
                <a:latin typeface="Segoe UI"/>
              </a:defRPr>
            </a:pPr>
            <a:r>
              <a:t>• POL-DELAY-02 (Delay 3–5 Hours): Entitled to a meal voucher + complimentary executive lounge access.</a:t>
            </a:r>
          </a:p>
          <a:p>
            <a:pPr>
              <a:spcAft>
                <a:spcPts val="400"/>
              </a:spcAft>
              <a:defRPr sz="800">
                <a:solidFill>
                  <a:srgbClr val="475569"/>
                </a:solidFill>
                <a:latin typeface="Segoe UI"/>
              </a:defRPr>
            </a:pPr>
            <a:r>
              <a:t>• POL-DELAY-03 (Delay &gt; 5 Hours): Entitled to meal voucher, lounge access, and hotel accommodation strictly covering delayed hours.</a:t>
            </a:r>
          </a:p>
          <a:p>
            <a:pPr>
              <a:spcAft>
                <a:spcPts val="400"/>
              </a:spcAft>
              <a:defRPr sz="800">
                <a:solidFill>
                  <a:srgbClr val="475569"/>
                </a:solidFill>
                <a:latin typeface="Segoe UI"/>
              </a:defRPr>
            </a:pPr>
            <a:r>
              <a:t>• POL-REFUND-01 (Refund Settlement): Processed within 7 business days to original payment method only.</a:t>
            </a:r>
          </a:p>
          <a:p>
            <a:pPr>
              <a:spcAft>
                <a:spcPts val="400"/>
              </a:spcAft>
              <a:defRPr sz="800">
                <a:solidFill>
                  <a:srgbClr val="475569"/>
                </a:solidFill>
                <a:latin typeface="Segoe UI"/>
              </a:defRPr>
            </a:pPr>
            <a:r>
              <a:t>• POL-LOYALTY-01 (Tier Priority): Gold and Platinum members receive priority rebooking queues. Complimentary cabin upgrades are strictly prohibited.</a:t>
            </a:r>
          </a:p>
          <a:p>
            <a:pPr>
              <a:spcAft>
                <a:spcPts val="400"/>
              </a:spcAft>
              <a:defRPr sz="800">
                <a:solidFill>
                  <a:srgbClr val="475569"/>
                </a:solidFill>
                <a:latin typeface="Segoe UI"/>
              </a:defRPr>
            </a:pPr>
            <a:r>
              <a:t>• POL-FARE-01 (Fare Waiver Ceiling): Fare differences up to ₹1,500 may be waived by agent; waivers above ₹1,500 require supervisor approval.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ENGINEERING DESIGN</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System Architecture: 6-Layer Modular Implementation</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5 of 10</a:t>
            </a:r>
          </a:p>
        </p:txBody>
      </p:sp>
      <p:pic>
        <p:nvPicPr>
          <p:cNvPr id="8" name="Picture 7" descr="architecture_diagram.png"/>
          <p:cNvPicPr>
            <a:picLocks noChangeAspect="1"/>
          </p:cNvPicPr>
          <p:nvPr/>
        </p:nvPicPr>
        <p:blipFill>
          <a:blip r:embed="rId2"/>
          <a:stretch>
            <a:fillRect/>
          </a:stretch>
        </p:blipFill>
        <p:spPr>
          <a:xfrm>
            <a:off x="731520" y="1417320"/>
            <a:ext cx="7589520" cy="4754880"/>
          </a:xfrm>
          <a:prstGeom prst="rect">
            <a:avLst/>
          </a:prstGeom>
        </p:spPr>
      </p:pic>
      <p:sp>
        <p:nvSpPr>
          <p:cNvPr id="9" name="Rounded Rectangle 8"/>
          <p:cNvSpPr/>
          <p:nvPr/>
        </p:nvSpPr>
        <p:spPr>
          <a:xfrm>
            <a:off x="8503920" y="1417320"/>
            <a:ext cx="292608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508760"/>
            <a:ext cx="2651760" cy="365760"/>
          </a:xfrm>
          <a:prstGeom prst="rect">
            <a:avLst/>
          </a:prstGeom>
          <a:noFill/>
        </p:spPr>
        <p:txBody>
          <a:bodyPr wrap="none">
            <a:spAutoFit/>
          </a:bodyPr>
          <a:lstStyle/>
          <a:p>
            <a:pPr>
              <a:defRPr sz="1100" b="1">
                <a:solidFill>
                  <a:srgbClr val="1E3A8A"/>
                </a:solidFill>
                <a:latin typeface="Segoe UI"/>
              </a:defRPr>
            </a:pPr>
            <a:r>
              <a:t>Key Architectural Invariants</a:t>
            </a:r>
          </a:p>
        </p:txBody>
      </p:sp>
      <p:sp>
        <p:nvSpPr>
          <p:cNvPr id="11" name="TextBox 10"/>
          <p:cNvSpPr txBox="1"/>
          <p:nvPr/>
        </p:nvSpPr>
        <p:spPr>
          <a:xfrm>
            <a:off x="8641080" y="1874519"/>
            <a:ext cx="2651760" cy="4114800"/>
          </a:xfrm>
          <a:prstGeom prst="rect">
            <a:avLst/>
          </a:prstGeom>
          <a:noFill/>
        </p:spPr>
        <p:txBody>
          <a:bodyPr wrap="square">
            <a:spAutoFit/>
          </a:bodyPr>
          <a:lstStyle/>
          <a:p>
            <a:pPr>
              <a:defRPr sz="850" b="1">
                <a:solidFill>
                  <a:srgbClr val="1E3A8A"/>
                </a:solidFill>
                <a:latin typeface="Segoe UI"/>
              </a:defRPr>
            </a:pPr>
            <a:r>
              <a:t>🔹 Layer 1: Frontend UI</a:t>
            </a:r>
          </a:p>
          <a:p>
            <a:pPr>
              <a:spcAft>
                <a:spcPts val="400"/>
              </a:spcAft>
              <a:defRPr sz="750">
                <a:solidFill>
                  <a:srgbClr val="475569"/>
                </a:solidFill>
                <a:latin typeface="Segoe UI"/>
              </a:defRPr>
            </a:pPr>
            <a:r>
              <a:t>HTML5/CSS3/JS 3-panel responsive console. Zero API keys in client.</a:t>
            </a:r>
          </a:p>
          <a:p>
            <a:pPr>
              <a:defRPr sz="850" b="1">
                <a:solidFill>
                  <a:srgbClr val="1E3A8A"/>
                </a:solidFill>
                <a:latin typeface="Segoe UI"/>
              </a:defRPr>
            </a:pPr>
            <a:r>
              <a:t>🔹 Layer 2: Web Gateway</a:t>
            </a:r>
          </a:p>
          <a:p>
            <a:pPr>
              <a:spcAft>
                <a:spcPts val="400"/>
              </a:spcAft>
              <a:defRPr sz="750">
                <a:solidFill>
                  <a:srgbClr val="475569"/>
                </a:solidFill>
                <a:latin typeface="Segoe UI"/>
              </a:defRPr>
            </a:pPr>
            <a:r>
              <a:t>Render Cloud container + Gunicorn WSGI server (`app:app`).</a:t>
            </a:r>
          </a:p>
          <a:p>
            <a:pPr>
              <a:defRPr sz="850" b="1">
                <a:solidFill>
                  <a:srgbClr val="1E3A8A"/>
                </a:solidFill>
                <a:latin typeface="Segoe UI"/>
              </a:defRPr>
            </a:pPr>
            <a:r>
              <a:t>🔹 Layer 3: Modular API</a:t>
            </a:r>
          </a:p>
          <a:p>
            <a:pPr>
              <a:spcAft>
                <a:spcPts val="400"/>
              </a:spcAft>
              <a:defRPr sz="750">
                <a:solidFill>
                  <a:srgbClr val="475569"/>
                </a:solidFill>
                <a:latin typeface="Segoe UI"/>
              </a:defRPr>
            </a:pPr>
            <a:r>
              <a:t>Flask Application Factory with REST blueprints for chat, actions, and telemetry.</a:t>
            </a:r>
          </a:p>
          <a:p>
            <a:pPr>
              <a:defRPr sz="850" b="1">
                <a:solidFill>
                  <a:srgbClr val="1E3A8A"/>
                </a:solidFill>
                <a:latin typeface="Segoe UI"/>
              </a:defRPr>
            </a:pPr>
            <a:r>
              <a:t>🔹 Layer 4: Policy Engine</a:t>
            </a:r>
          </a:p>
          <a:p>
            <a:pPr>
              <a:spcAft>
                <a:spcPts val="400"/>
              </a:spcAft>
              <a:defRPr sz="750">
                <a:solidFill>
                  <a:srgbClr val="475569"/>
                </a:solidFill>
                <a:latin typeface="Segoe UI"/>
              </a:defRPr>
            </a:pPr>
            <a:r>
              <a:t>Deterministic Python rules enforce strict Assignment 3 policies. Zero LLM override.</a:t>
            </a:r>
          </a:p>
          <a:p>
            <a:pPr>
              <a:defRPr sz="850" b="1">
                <a:solidFill>
                  <a:srgbClr val="1E3A8A"/>
                </a:solidFill>
                <a:latin typeface="Segoe UI"/>
              </a:defRPr>
            </a:pPr>
            <a:r>
              <a:t>🔹 Layer 5: AI Engine</a:t>
            </a:r>
          </a:p>
          <a:p>
            <a:pPr>
              <a:spcAft>
                <a:spcPts val="400"/>
              </a:spcAft>
              <a:defRPr sz="750">
                <a:solidFill>
                  <a:srgbClr val="475569"/>
                </a:solidFill>
                <a:latin typeface="Segoe UI"/>
              </a:defRPr>
            </a:pPr>
            <a:r>
              <a:t>Groq Llama-3.3-70B via OpenAI REST completions + offline fallback.</a:t>
            </a:r>
          </a:p>
          <a:p>
            <a:pPr>
              <a:defRPr sz="850" b="1">
                <a:solidFill>
                  <a:srgbClr val="1E3A8A"/>
                </a:solidFill>
                <a:latin typeface="Segoe UI"/>
              </a:defRPr>
            </a:pPr>
            <a:r>
              <a:t>🔹 Layer 6: Persistence</a:t>
            </a:r>
          </a:p>
          <a:p>
            <a:pPr>
              <a:spcAft>
                <a:spcPts val="400"/>
              </a:spcAft>
              <a:defRPr sz="750">
                <a:solidFill>
                  <a:srgbClr val="475569"/>
                </a:solidFill>
                <a:latin typeface="Segoe UI"/>
              </a:defRPr>
            </a:pPr>
            <a:r>
              <a:t>SQLite3 with 10 normalized tables. Idempotent action logging prevents duplicate refunds.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IMPLEMENTATION STACK</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Technology Stack: Verified Production Stack</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6 of 10</a:t>
            </a:r>
          </a:p>
        </p:txBody>
      </p:sp>
      <p:graphicFrame>
        <p:nvGraphicFramePr>
          <p:cNvPr id="8" name="Table 7"/>
          <p:cNvGraphicFramePr>
            <a:graphicFrameLocks noGrp="1"/>
          </p:cNvGraphicFramePr>
          <p:nvPr/>
        </p:nvGraphicFramePr>
        <p:xfrm>
          <a:off x="731520" y="1463040"/>
          <a:ext cx="10728655" cy="4663440"/>
        </p:xfrm>
        <a:graphic>
          <a:graphicData uri="http://schemas.openxmlformats.org/drawingml/2006/table">
            <a:tbl>
              <a:tblPr firstRow="1" bandRow="1">
                <a:tableStyleId>{5C22544A-7EE6-4342-B048-85BDC9FD1C3A}</a:tableStyleId>
              </a:tblPr>
              <a:tblGrid>
                <a:gridCol w="2011680"/>
                <a:gridCol w="2103120"/>
                <a:gridCol w="2103120"/>
                <a:gridCol w="4510735"/>
              </a:tblGrid>
              <a:tr h="423949">
                <a:tc>
                  <a:txBody>
                    <a:bodyPr/>
                    <a:lstStyle/>
                    <a:p>
                      <a:pPr>
                        <a:defRPr sz="950" b="1">
                          <a:solidFill>
                            <a:srgbClr val="FFFFFF"/>
                          </a:solidFill>
                          <a:latin typeface="Segoe UI"/>
                        </a:defRPr>
                      </a:pPr>
                      <a:r>
                        <a:t>Layer / Subsystem</a:t>
                      </a:r>
                    </a:p>
                  </a:txBody>
                  <a:tcPr>
                    <a:solidFill>
                      <a:srgbClr val="1E3A8A"/>
                    </a:solidFill>
                  </a:tcPr>
                </a:tc>
                <a:tc>
                  <a:txBody>
                    <a:bodyPr/>
                    <a:lstStyle/>
                    <a:p>
                      <a:pPr>
                        <a:defRPr sz="950" b="1">
                          <a:solidFill>
                            <a:srgbClr val="FFFFFF"/>
                          </a:solidFill>
                          <a:latin typeface="Segoe UI"/>
                        </a:defRPr>
                      </a:pPr>
                      <a:r>
                        <a:t>Technology</a:t>
                      </a:r>
                    </a:p>
                  </a:txBody>
                  <a:tcPr>
                    <a:solidFill>
                      <a:srgbClr val="1E3A8A"/>
                    </a:solidFill>
                  </a:tcPr>
                </a:tc>
                <a:tc>
                  <a:txBody>
                    <a:bodyPr/>
                    <a:lstStyle/>
                    <a:p>
                      <a:pPr>
                        <a:defRPr sz="950" b="1">
                          <a:solidFill>
                            <a:srgbClr val="FFFFFF"/>
                          </a:solidFill>
                          <a:latin typeface="Segoe UI"/>
                        </a:defRPr>
                      </a:pPr>
                      <a:r>
                        <a:t>Version / Endpoint</a:t>
                      </a:r>
                    </a:p>
                  </a:txBody>
                  <a:tcPr>
                    <a:solidFill>
                      <a:srgbClr val="1E3A8A"/>
                    </a:solidFill>
                  </a:tcPr>
                </a:tc>
                <a:tc>
                  <a:txBody>
                    <a:bodyPr/>
                    <a:lstStyle/>
                    <a:p>
                      <a:pPr>
                        <a:defRPr sz="950" b="1">
                          <a:solidFill>
                            <a:srgbClr val="FFFFFF"/>
                          </a:solidFill>
                          <a:latin typeface="Segoe UI"/>
                        </a:defRPr>
                      </a:pPr>
                      <a:r>
                        <a:t>Concrete Purpose in AeroResolve</a:t>
                      </a:r>
                    </a:p>
                  </a:txBody>
                  <a:tcPr>
                    <a:solidFill>
                      <a:srgbClr val="1E3A8A"/>
                    </a:solidFill>
                  </a:tcPr>
                </a:tc>
              </a:tr>
              <a:tr h="423949">
                <a:tc>
                  <a:txBody>
                    <a:bodyPr/>
                    <a:lstStyle/>
                    <a:p>
                      <a:pPr>
                        <a:defRPr sz="800">
                          <a:solidFill>
                            <a:srgbClr val="475569"/>
                          </a:solidFill>
                          <a:latin typeface="Segoe UI"/>
                        </a:defRPr>
                      </a:pPr>
                      <a:r>
                        <a:t>Presentation</a:t>
                      </a:r>
                    </a:p>
                  </a:txBody>
                  <a:tcPr>
                    <a:solidFill>
                      <a:srgbClr val="FFFFFF"/>
                    </a:solidFill>
                  </a:tcPr>
                </a:tc>
                <a:tc>
                  <a:txBody>
                    <a:bodyPr/>
                    <a:lstStyle/>
                    <a:p>
                      <a:pPr>
                        <a:defRPr sz="800" b="1">
                          <a:solidFill>
                            <a:srgbClr val="1E3A8A"/>
                          </a:solidFill>
                          <a:latin typeface="Segoe UI"/>
                        </a:defRPr>
                      </a:pPr>
                      <a:r>
                        <a:t>HTML5, CSS3, JavaScript (ES6)</a:t>
                      </a:r>
                    </a:p>
                  </a:txBody>
                  <a:tcPr>
                    <a:solidFill>
                      <a:srgbClr val="FFFFFF"/>
                    </a:solidFill>
                  </a:tcPr>
                </a:tc>
                <a:tc>
                  <a:txBody>
                    <a:bodyPr/>
                    <a:lstStyle/>
                    <a:p>
                      <a:pPr>
                        <a:defRPr sz="800">
                          <a:solidFill>
                            <a:srgbClr val="475569"/>
                          </a:solidFill>
                          <a:latin typeface="Segoe UI"/>
                        </a:defRPr>
                      </a:pPr>
                      <a:r>
                        <a:t>Modern Standard</a:t>
                      </a:r>
                    </a:p>
                  </a:txBody>
                  <a:tcPr>
                    <a:solidFill>
                      <a:srgbClr val="FFFFFF"/>
                    </a:solidFill>
                  </a:tcPr>
                </a:tc>
                <a:tc>
                  <a:txBody>
                    <a:bodyPr/>
                    <a:lstStyle/>
                    <a:p>
                      <a:pPr>
                        <a:defRPr sz="800">
                          <a:solidFill>
                            <a:srgbClr val="475569"/>
                          </a:solidFill>
                          <a:latin typeface="Segoe UI"/>
                        </a:defRPr>
                      </a:pPr>
                      <a:r>
                        <a:t>3-panel responsive UI, Fetch API client, live Action Cards, zero build tool overhead.</a:t>
                      </a:r>
                    </a:p>
                  </a:txBody>
                  <a:tcPr>
                    <a:solidFill>
                      <a:srgbClr val="FFFFFF"/>
                    </a:solidFill>
                  </a:tcPr>
                </a:tc>
              </a:tr>
              <a:tr h="423949">
                <a:tc>
                  <a:txBody>
                    <a:bodyPr/>
                    <a:lstStyle/>
                    <a:p>
                      <a:pPr>
                        <a:defRPr sz="800">
                          <a:solidFill>
                            <a:srgbClr val="475569"/>
                          </a:solidFill>
                          <a:latin typeface="Segoe UI"/>
                        </a:defRPr>
                      </a:pPr>
                      <a:r>
                        <a:t>Application Runtime</a:t>
                      </a:r>
                    </a:p>
                  </a:txBody>
                  <a:tcPr>
                    <a:solidFill>
                      <a:srgbClr val="F8FAFC"/>
                    </a:solidFill>
                  </a:tcPr>
                </a:tc>
                <a:tc>
                  <a:txBody>
                    <a:bodyPr/>
                    <a:lstStyle/>
                    <a:p>
                      <a:pPr>
                        <a:defRPr sz="800" b="1">
                          <a:solidFill>
                            <a:srgbClr val="1E3A8A"/>
                          </a:solidFill>
                          <a:latin typeface="Segoe UI"/>
                        </a:defRPr>
                      </a:pPr>
                      <a:r>
                        <a:t>Python</a:t>
                      </a:r>
                    </a:p>
                  </a:txBody>
                  <a:tcPr>
                    <a:solidFill>
                      <a:srgbClr val="F8FAFC"/>
                    </a:solidFill>
                  </a:tcPr>
                </a:tc>
                <a:tc>
                  <a:txBody>
                    <a:bodyPr/>
                    <a:lstStyle/>
                    <a:p>
                      <a:pPr>
                        <a:defRPr sz="800">
                          <a:solidFill>
                            <a:srgbClr val="475569"/>
                          </a:solidFill>
                          <a:latin typeface="Segoe UI"/>
                        </a:defRPr>
                      </a:pPr>
                      <a:r>
                        <a:t>3.11.9</a:t>
                      </a:r>
                    </a:p>
                  </a:txBody>
                  <a:tcPr>
                    <a:solidFill>
                      <a:srgbClr val="F8FAFC"/>
                    </a:solidFill>
                  </a:tcPr>
                </a:tc>
                <a:tc>
                  <a:txBody>
                    <a:bodyPr/>
                    <a:lstStyle/>
                    <a:p>
                      <a:pPr>
                        <a:defRPr sz="800">
                          <a:solidFill>
                            <a:srgbClr val="475569"/>
                          </a:solidFill>
                          <a:latin typeface="Segoe UI"/>
                        </a:defRPr>
                      </a:pPr>
                      <a:r>
                        <a:t>Core execution environment supporting strong typing and dataclasses.</a:t>
                      </a:r>
                    </a:p>
                  </a:txBody>
                  <a:tcPr>
                    <a:solidFill>
                      <a:srgbClr val="F8FAFC"/>
                    </a:solidFill>
                  </a:tcPr>
                </a:tc>
              </a:tr>
              <a:tr h="423949">
                <a:tc>
                  <a:txBody>
                    <a:bodyPr/>
                    <a:lstStyle/>
                    <a:p>
                      <a:pPr>
                        <a:defRPr sz="800">
                          <a:solidFill>
                            <a:srgbClr val="475569"/>
                          </a:solidFill>
                          <a:latin typeface="Segoe UI"/>
                        </a:defRPr>
                      </a:pPr>
                      <a:r>
                        <a:t>Backend Framework</a:t>
                      </a:r>
                    </a:p>
                  </a:txBody>
                  <a:tcPr>
                    <a:solidFill>
                      <a:srgbClr val="FFFFFF"/>
                    </a:solidFill>
                  </a:tcPr>
                </a:tc>
                <a:tc>
                  <a:txBody>
                    <a:bodyPr/>
                    <a:lstStyle/>
                    <a:p>
                      <a:pPr>
                        <a:defRPr sz="800" b="1">
                          <a:solidFill>
                            <a:srgbClr val="1E3A8A"/>
                          </a:solidFill>
                          <a:latin typeface="Segoe UI"/>
                        </a:defRPr>
                      </a:pPr>
                      <a:r>
                        <a:t>Flask</a:t>
                      </a:r>
                    </a:p>
                  </a:txBody>
                  <a:tcPr>
                    <a:solidFill>
                      <a:srgbClr val="FFFFFF"/>
                    </a:solidFill>
                  </a:tcPr>
                </a:tc>
                <a:tc>
                  <a:txBody>
                    <a:bodyPr/>
                    <a:lstStyle/>
                    <a:p>
                      <a:pPr>
                        <a:defRPr sz="800">
                          <a:solidFill>
                            <a:srgbClr val="475569"/>
                          </a:solidFill>
                          <a:latin typeface="Segoe UI"/>
                        </a:defRPr>
                      </a:pPr>
                      <a:r>
                        <a:t>3.1.2</a:t>
                      </a:r>
                    </a:p>
                  </a:txBody>
                  <a:tcPr>
                    <a:solidFill>
                      <a:srgbClr val="FFFFFF"/>
                    </a:solidFill>
                  </a:tcPr>
                </a:tc>
                <a:tc>
                  <a:txBody>
                    <a:bodyPr/>
                    <a:lstStyle/>
                    <a:p>
                      <a:pPr>
                        <a:defRPr sz="800">
                          <a:solidFill>
                            <a:srgbClr val="475569"/>
                          </a:solidFill>
                          <a:latin typeface="Segoe UI"/>
                        </a:defRPr>
                      </a:pPr>
                      <a:r>
                        <a:t>Application Factory (`create_app`), modular blueprints (`/api/chat`, `/api/action/confirm`).</a:t>
                      </a:r>
                    </a:p>
                  </a:txBody>
                  <a:tcPr>
                    <a:solidFill>
                      <a:srgbClr val="FFFFFF"/>
                    </a:solidFill>
                  </a:tcPr>
                </a:tc>
              </a:tr>
              <a:tr h="423949">
                <a:tc>
                  <a:txBody>
                    <a:bodyPr/>
                    <a:lstStyle/>
                    <a:p>
                      <a:pPr>
                        <a:defRPr sz="800">
                          <a:solidFill>
                            <a:srgbClr val="475569"/>
                          </a:solidFill>
                          <a:latin typeface="Segoe UI"/>
                        </a:defRPr>
                      </a:pPr>
                      <a:r>
                        <a:t>WSGI Web Server</a:t>
                      </a:r>
                    </a:p>
                  </a:txBody>
                  <a:tcPr>
                    <a:solidFill>
                      <a:srgbClr val="F8FAFC"/>
                    </a:solidFill>
                  </a:tcPr>
                </a:tc>
                <a:tc>
                  <a:txBody>
                    <a:bodyPr/>
                    <a:lstStyle/>
                    <a:p>
                      <a:pPr>
                        <a:defRPr sz="800" b="1">
                          <a:solidFill>
                            <a:srgbClr val="1E3A8A"/>
                          </a:solidFill>
                          <a:latin typeface="Segoe UI"/>
                        </a:defRPr>
                      </a:pPr>
                      <a:r>
                        <a:t>Gunicorn</a:t>
                      </a:r>
                    </a:p>
                  </a:txBody>
                  <a:tcPr>
                    <a:solidFill>
                      <a:srgbClr val="F8FAFC"/>
                    </a:solidFill>
                  </a:tcPr>
                </a:tc>
                <a:tc>
                  <a:txBody>
                    <a:bodyPr/>
                    <a:lstStyle/>
                    <a:p>
                      <a:pPr>
                        <a:defRPr sz="800">
                          <a:solidFill>
                            <a:srgbClr val="475569"/>
                          </a:solidFill>
                          <a:latin typeface="Segoe UI"/>
                        </a:defRPr>
                      </a:pPr>
                      <a:r>
                        <a:t>26.2.0</a:t>
                      </a:r>
                    </a:p>
                  </a:txBody>
                  <a:tcPr>
                    <a:solidFill>
                      <a:srgbClr val="F8FAFC"/>
                    </a:solidFill>
                  </a:tcPr>
                </a:tc>
                <a:tc>
                  <a:txBody>
                    <a:bodyPr/>
                    <a:lstStyle/>
                    <a:p>
                      <a:pPr>
                        <a:defRPr sz="800">
                          <a:solidFill>
                            <a:srgbClr val="475569"/>
                          </a:solidFill>
                          <a:latin typeface="Segoe UI"/>
                        </a:defRPr>
                      </a:pPr>
                      <a:r>
                        <a:t>Production WSGI server handling HTTP concurrency on Render (`gunicorn app:app`).</a:t>
                      </a:r>
                    </a:p>
                  </a:txBody>
                  <a:tcPr>
                    <a:solidFill>
                      <a:srgbClr val="F8FAFC"/>
                    </a:solidFill>
                  </a:tcPr>
                </a:tc>
              </a:tr>
              <a:tr h="423949">
                <a:tc>
                  <a:txBody>
                    <a:bodyPr/>
                    <a:lstStyle/>
                    <a:p>
                      <a:pPr>
                        <a:defRPr sz="800">
                          <a:solidFill>
                            <a:srgbClr val="475569"/>
                          </a:solidFill>
                          <a:latin typeface="Segoe UI"/>
                        </a:defRPr>
                      </a:pPr>
                      <a:r>
                        <a:t>AI Intelligence</a:t>
                      </a:r>
                    </a:p>
                  </a:txBody>
                  <a:tcPr>
                    <a:solidFill>
                      <a:srgbClr val="FFFFFF"/>
                    </a:solidFill>
                  </a:tcPr>
                </a:tc>
                <a:tc>
                  <a:txBody>
                    <a:bodyPr/>
                    <a:lstStyle/>
                    <a:p>
                      <a:pPr>
                        <a:defRPr sz="800" b="1">
                          <a:solidFill>
                            <a:srgbClr val="1E3A8A"/>
                          </a:solidFill>
                          <a:latin typeface="Segoe UI"/>
                        </a:defRPr>
                      </a:pPr>
                      <a:r>
                        <a:t>Groq Cloud API</a:t>
                      </a:r>
                    </a:p>
                  </a:txBody>
                  <a:tcPr>
                    <a:solidFill>
                      <a:srgbClr val="FFFFFF"/>
                    </a:solidFill>
                  </a:tcPr>
                </a:tc>
                <a:tc>
                  <a:txBody>
                    <a:bodyPr/>
                    <a:lstStyle/>
                    <a:p>
                      <a:pPr>
                        <a:defRPr sz="800">
                          <a:solidFill>
                            <a:srgbClr val="475569"/>
                          </a:solidFill>
                          <a:latin typeface="Segoe UI"/>
                        </a:defRPr>
                      </a:pPr>
                      <a:r>
                        <a:t>Llama-3.3-70B-Versatile</a:t>
                      </a:r>
                    </a:p>
                  </a:txBody>
                  <a:tcPr>
                    <a:solidFill>
                      <a:srgbClr val="FFFFFF"/>
                    </a:solidFill>
                  </a:tcPr>
                </a:tc>
                <a:tc>
                  <a:txBody>
                    <a:bodyPr/>
                    <a:lstStyle/>
                    <a:p>
                      <a:pPr>
                        <a:defRPr sz="800">
                          <a:solidFill>
                            <a:srgbClr val="475569"/>
                          </a:solidFill>
                          <a:latin typeface="Segoe UI"/>
                        </a:defRPr>
                      </a:pPr>
                      <a:r>
                        <a:t>Ultra-fast OpenAI-compatible REST endpoint for NLU, emotion, and entity parsing.</a:t>
                      </a:r>
                    </a:p>
                  </a:txBody>
                  <a:tcPr>
                    <a:solidFill>
                      <a:srgbClr val="FFFFFF"/>
                    </a:solidFill>
                  </a:tcPr>
                </a:tc>
              </a:tr>
              <a:tr h="423949">
                <a:tc>
                  <a:txBody>
                    <a:bodyPr/>
                    <a:lstStyle/>
                    <a:p>
                      <a:pPr>
                        <a:defRPr sz="800">
                          <a:solidFill>
                            <a:srgbClr val="475569"/>
                          </a:solidFill>
                          <a:latin typeface="Segoe UI"/>
                        </a:defRPr>
                      </a:pPr>
                      <a:r>
                        <a:t>Offline Fallback</a:t>
                      </a:r>
                    </a:p>
                  </a:txBody>
                  <a:tcPr>
                    <a:solidFill>
                      <a:srgbClr val="F8FAFC"/>
                    </a:solidFill>
                  </a:tcPr>
                </a:tc>
                <a:tc>
                  <a:txBody>
                    <a:bodyPr/>
                    <a:lstStyle/>
                    <a:p>
                      <a:pPr>
                        <a:defRPr sz="800" b="1">
                          <a:solidFill>
                            <a:srgbClr val="1E3A8A"/>
                          </a:solidFill>
                          <a:latin typeface="Segoe UI"/>
                        </a:defRPr>
                      </a:pPr>
                      <a:r>
                        <a:t>Deterministic Local NLP</a:t>
                      </a:r>
                    </a:p>
                  </a:txBody>
                  <a:tcPr>
                    <a:solidFill>
                      <a:srgbClr val="F8FAFC"/>
                    </a:solidFill>
                  </a:tcPr>
                </a:tc>
                <a:tc>
                  <a:txBody>
                    <a:bodyPr/>
                    <a:lstStyle/>
                    <a:p>
                      <a:pPr>
                        <a:defRPr sz="800">
                          <a:solidFill>
                            <a:srgbClr val="475569"/>
                          </a:solidFill>
                          <a:latin typeface="Segoe UI"/>
                        </a:defRPr>
                      </a:pPr>
                      <a:r>
                        <a:t>Python Native</a:t>
                      </a:r>
                    </a:p>
                  </a:txBody>
                  <a:tcPr>
                    <a:solidFill>
                      <a:srgbClr val="F8FAFC"/>
                    </a:solidFill>
                  </a:tcPr>
                </a:tc>
                <a:tc>
                  <a:txBody>
                    <a:bodyPr/>
                    <a:lstStyle/>
                    <a:p>
                      <a:pPr>
                        <a:defRPr sz="800">
                          <a:solidFill>
                            <a:srgbClr val="475569"/>
                          </a:solidFill>
                          <a:latin typeface="Segoe UI"/>
                        </a:defRPr>
                      </a:pPr>
                      <a:r>
                        <a:t>Zero-dependency regex and keyword rule engine ensuring 100% uptime without API keys.</a:t>
                      </a:r>
                    </a:p>
                  </a:txBody>
                  <a:tcPr>
                    <a:solidFill>
                      <a:srgbClr val="F8FAFC"/>
                    </a:solidFill>
                  </a:tcPr>
                </a:tc>
              </a:tr>
              <a:tr h="423949">
                <a:tc>
                  <a:txBody>
                    <a:bodyPr/>
                    <a:lstStyle/>
                    <a:p>
                      <a:pPr>
                        <a:defRPr sz="800">
                          <a:solidFill>
                            <a:srgbClr val="475569"/>
                          </a:solidFill>
                          <a:latin typeface="Segoe UI"/>
                        </a:defRPr>
                      </a:pPr>
                      <a:r>
                        <a:t>Database Layer</a:t>
                      </a:r>
                    </a:p>
                  </a:txBody>
                  <a:tcPr>
                    <a:solidFill>
                      <a:srgbClr val="FFFFFF"/>
                    </a:solidFill>
                  </a:tcPr>
                </a:tc>
                <a:tc>
                  <a:txBody>
                    <a:bodyPr/>
                    <a:lstStyle/>
                    <a:p>
                      <a:pPr>
                        <a:defRPr sz="800" b="1">
                          <a:solidFill>
                            <a:srgbClr val="1E3A8A"/>
                          </a:solidFill>
                          <a:latin typeface="Segoe UI"/>
                        </a:defRPr>
                      </a:pPr>
                      <a:r>
                        <a:t>SQLite3</a:t>
                      </a:r>
                    </a:p>
                  </a:txBody>
                  <a:tcPr>
                    <a:solidFill>
                      <a:srgbClr val="FFFFFF"/>
                    </a:solidFill>
                  </a:tcPr>
                </a:tc>
                <a:tc>
                  <a:txBody>
                    <a:bodyPr/>
                    <a:lstStyle/>
                    <a:p>
                      <a:pPr>
                        <a:defRPr sz="800">
                          <a:solidFill>
                            <a:srgbClr val="475569"/>
                          </a:solidFill>
                          <a:latin typeface="Segoe UI"/>
                        </a:defRPr>
                      </a:pPr>
                      <a:r>
                        <a:t>3.x Relational</a:t>
                      </a:r>
                    </a:p>
                  </a:txBody>
                  <a:tcPr>
                    <a:solidFill>
                      <a:srgbClr val="FFFFFF"/>
                    </a:solidFill>
                  </a:tcPr>
                </a:tc>
                <a:tc>
                  <a:txBody>
                    <a:bodyPr/>
                    <a:lstStyle/>
                    <a:p>
                      <a:pPr>
                        <a:defRPr sz="800">
                          <a:solidFill>
                            <a:srgbClr val="475569"/>
                          </a:solidFill>
                          <a:latin typeface="Segoe UI"/>
                        </a:defRPr>
                      </a:pPr>
                      <a:r>
                        <a:t>10 normalized tables: customers, flights, bookings, messages, actions, escalations, audit.</a:t>
                      </a:r>
                    </a:p>
                  </a:txBody>
                  <a:tcPr>
                    <a:solidFill>
                      <a:srgbClr val="FFFFFF"/>
                    </a:solidFill>
                  </a:tcPr>
                </a:tc>
              </a:tr>
              <a:tr h="423949">
                <a:tc>
                  <a:txBody>
                    <a:bodyPr/>
                    <a:lstStyle/>
                    <a:p>
                      <a:pPr>
                        <a:defRPr sz="800">
                          <a:solidFill>
                            <a:srgbClr val="475569"/>
                          </a:solidFill>
                          <a:latin typeface="Segoe UI"/>
                        </a:defRPr>
                      </a:pPr>
                      <a:r>
                        <a:t>Cloud Deployment</a:t>
                      </a:r>
                    </a:p>
                  </a:txBody>
                  <a:tcPr>
                    <a:solidFill>
                      <a:srgbClr val="F8FAFC"/>
                    </a:solidFill>
                  </a:tcPr>
                </a:tc>
                <a:tc>
                  <a:txBody>
                    <a:bodyPr/>
                    <a:lstStyle/>
                    <a:p>
                      <a:pPr>
                        <a:defRPr sz="800" b="1">
                          <a:solidFill>
                            <a:srgbClr val="1E3A8A"/>
                          </a:solidFill>
                          <a:latin typeface="Segoe UI"/>
                        </a:defRPr>
                      </a:pPr>
                      <a:r>
                        <a:t>Render Cloud</a:t>
                      </a:r>
                    </a:p>
                  </a:txBody>
                  <a:tcPr>
                    <a:solidFill>
                      <a:srgbClr val="F8FAFC"/>
                    </a:solidFill>
                  </a:tcPr>
                </a:tc>
                <a:tc>
                  <a:txBody>
                    <a:bodyPr/>
                    <a:lstStyle/>
                    <a:p>
                      <a:pPr>
                        <a:defRPr sz="800">
                          <a:solidFill>
                            <a:srgbClr val="475569"/>
                          </a:solidFill>
                          <a:latin typeface="Segoe UI"/>
                        </a:defRPr>
                      </a:pPr>
                      <a:r>
                        <a:t>Free Web Service</a:t>
                      </a:r>
                    </a:p>
                  </a:txBody>
                  <a:tcPr>
                    <a:solidFill>
                      <a:srgbClr val="F8FAFC"/>
                    </a:solidFill>
                  </a:tcPr>
                </a:tc>
                <a:tc>
                  <a:txBody>
                    <a:bodyPr/>
                    <a:lstStyle/>
                    <a:p>
                      <a:pPr>
                        <a:defRPr sz="800">
                          <a:solidFill>
                            <a:srgbClr val="475569"/>
                          </a:solidFill>
                          <a:latin typeface="Segoe UI"/>
                        </a:defRPr>
                      </a:pPr>
                      <a:r>
                        <a:t>Containerized Linux cloud hosting running live public application with health checks.</a:t>
                      </a:r>
                    </a:p>
                  </a:txBody>
                  <a:tcPr>
                    <a:solidFill>
                      <a:srgbClr val="F8FAFC"/>
                    </a:solidFill>
                  </a:tcPr>
                </a:tc>
              </a:tr>
              <a:tr h="423949">
                <a:tc>
                  <a:txBody>
                    <a:bodyPr/>
                    <a:lstStyle/>
                    <a:p>
                      <a:pPr>
                        <a:defRPr sz="800">
                          <a:solidFill>
                            <a:srgbClr val="475569"/>
                          </a:solidFill>
                          <a:latin typeface="Segoe UI"/>
                        </a:defRPr>
                      </a:pPr>
                      <a:r>
                        <a:t>Version Control</a:t>
                      </a:r>
                    </a:p>
                  </a:txBody>
                  <a:tcPr>
                    <a:solidFill>
                      <a:srgbClr val="FFFFFF"/>
                    </a:solidFill>
                  </a:tcPr>
                </a:tc>
                <a:tc>
                  <a:txBody>
                    <a:bodyPr/>
                    <a:lstStyle/>
                    <a:p>
                      <a:pPr>
                        <a:defRPr sz="800" b="1">
                          <a:solidFill>
                            <a:srgbClr val="1E3A8A"/>
                          </a:solidFill>
                          <a:latin typeface="Segoe UI"/>
                        </a:defRPr>
                      </a:pPr>
                      <a:r>
                        <a:t>Git &amp; GitHub</a:t>
                      </a:r>
                    </a:p>
                  </a:txBody>
                  <a:tcPr>
                    <a:solidFill>
                      <a:srgbClr val="FFFFFF"/>
                    </a:solidFill>
                  </a:tcPr>
                </a:tc>
                <a:tc>
                  <a:txBody>
                    <a:bodyPr/>
                    <a:lstStyle/>
                    <a:p>
                      <a:pPr>
                        <a:defRPr sz="800">
                          <a:solidFill>
                            <a:srgbClr val="475569"/>
                          </a:solidFill>
                          <a:latin typeface="Segoe UI"/>
                        </a:defRPr>
                      </a:pPr>
                      <a:r>
                        <a:t>vatsa2912/customer-resolution-agent</a:t>
                      </a:r>
                    </a:p>
                  </a:txBody>
                  <a:tcPr>
                    <a:solidFill>
                      <a:srgbClr val="FFFFFF"/>
                    </a:solidFill>
                  </a:tcPr>
                </a:tc>
                <a:tc>
                  <a:txBody>
                    <a:bodyPr/>
                    <a:lstStyle/>
                    <a:p>
                      <a:pPr>
                        <a:defRPr sz="800">
                          <a:solidFill>
                            <a:srgbClr val="475569"/>
                          </a:solidFill>
                          <a:latin typeface="Segoe UI"/>
                        </a:defRPr>
                      </a:pPr>
                      <a:r>
                        <a:t>Remote repository, automatic deployment hooks, open-source code hosting.</a:t>
                      </a:r>
                    </a:p>
                  </a:txBody>
                  <a:tcPr>
                    <a:solidFill>
                      <a:srgbClr val="FFFFFF"/>
                    </a:solidFill>
                  </a:tcPr>
                </a:tc>
              </a:tr>
              <a:tr h="423950">
                <a:tc>
                  <a:txBody>
                    <a:bodyPr/>
                    <a:lstStyle/>
                    <a:p>
                      <a:pPr>
                        <a:defRPr sz="800">
                          <a:solidFill>
                            <a:srgbClr val="475569"/>
                          </a:solidFill>
                          <a:latin typeface="Segoe UI"/>
                        </a:defRPr>
                      </a:pPr>
                      <a:r>
                        <a:t>Automated Testing</a:t>
                      </a:r>
                    </a:p>
                  </a:txBody>
                  <a:tcPr>
                    <a:solidFill>
                      <a:srgbClr val="F8FAFC"/>
                    </a:solidFill>
                  </a:tcPr>
                </a:tc>
                <a:tc>
                  <a:txBody>
                    <a:bodyPr/>
                    <a:lstStyle/>
                    <a:p>
                      <a:pPr>
                        <a:defRPr sz="800" b="1">
                          <a:solidFill>
                            <a:srgbClr val="1E3A8A"/>
                          </a:solidFill>
                          <a:latin typeface="Segoe UI"/>
                        </a:defRPr>
                      </a:pPr>
                      <a:r>
                        <a:t>Pytest</a:t>
                      </a:r>
                    </a:p>
                  </a:txBody>
                  <a:tcPr>
                    <a:solidFill>
                      <a:srgbClr val="F8FAFC"/>
                    </a:solidFill>
                  </a:tcPr>
                </a:tc>
                <a:tc>
                  <a:txBody>
                    <a:bodyPr/>
                    <a:lstStyle/>
                    <a:p>
                      <a:pPr>
                        <a:defRPr sz="800">
                          <a:solidFill>
                            <a:srgbClr val="475569"/>
                          </a:solidFill>
                          <a:latin typeface="Segoe UI"/>
                        </a:defRPr>
                      </a:pPr>
                      <a:r>
                        <a:t>9.1.1</a:t>
                      </a:r>
                    </a:p>
                  </a:txBody>
                  <a:tcPr>
                    <a:solidFill>
                      <a:srgbClr val="F8FAFC"/>
                    </a:solidFill>
                  </a:tcPr>
                </a:tc>
                <a:tc>
                  <a:txBody>
                    <a:bodyPr/>
                    <a:lstStyle/>
                    <a:p>
                      <a:pPr>
                        <a:defRPr sz="800">
                          <a:solidFill>
                            <a:srgbClr val="475569"/>
                          </a:solidFill>
                          <a:latin typeface="Segoe UI"/>
                        </a:defRPr>
                      </a:pPr>
                      <a:r>
                        <a:t>23/23 passing test suite validating policy logic, tool safety, and scenario flows.</a:t>
                      </a:r>
                    </a:p>
                  </a:txBody>
                  <a:tcPr>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OPERATIONAL LIFECYCLE</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Working Methodology: End-to-End Query Execution</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7 of 10</a:t>
            </a:r>
          </a:p>
        </p:txBody>
      </p:sp>
      <p:sp>
        <p:nvSpPr>
          <p:cNvPr id="8" name="Rounded Rectangle 7"/>
          <p:cNvSpPr/>
          <p:nvPr/>
        </p:nvSpPr>
        <p:spPr>
          <a:xfrm>
            <a:off x="731520" y="141732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155448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1</a:t>
            </a:r>
          </a:p>
        </p:txBody>
      </p:sp>
      <p:sp>
        <p:nvSpPr>
          <p:cNvPr id="10" name="TextBox 9"/>
          <p:cNvSpPr txBox="1"/>
          <p:nvPr/>
        </p:nvSpPr>
        <p:spPr>
          <a:xfrm>
            <a:off x="1280160" y="1508760"/>
            <a:ext cx="4617720" cy="914400"/>
          </a:xfrm>
          <a:prstGeom prst="rect">
            <a:avLst/>
          </a:prstGeom>
          <a:noFill/>
        </p:spPr>
        <p:txBody>
          <a:bodyPr wrap="square">
            <a:spAutoFit/>
          </a:bodyPr>
          <a:lstStyle/>
          <a:p>
            <a:pPr>
              <a:defRPr sz="1000" b="1">
                <a:solidFill>
                  <a:srgbClr val="1E3A8A"/>
                </a:solidFill>
                <a:latin typeface="Segoe UI"/>
              </a:defRPr>
            </a:pPr>
            <a:r>
              <a:t>Step 1: Passenger Input &amp; Context</a:t>
            </a:r>
          </a:p>
          <a:p>
            <a:pPr>
              <a:defRPr sz="800">
                <a:solidFill>
                  <a:srgbClr val="475569"/>
                </a:solidFill>
                <a:latin typeface="Segoe UI"/>
              </a:defRPr>
            </a:pPr>
            <a:r>
              <a:t>Customer opens the deployed app, selects profile (e.g. Priya Nair, Gold), and submits natural language query via the chat console.</a:t>
            </a:r>
          </a:p>
        </p:txBody>
      </p:sp>
      <p:sp>
        <p:nvSpPr>
          <p:cNvPr id="11" name="Rounded Rectangle 10"/>
          <p:cNvSpPr/>
          <p:nvPr/>
        </p:nvSpPr>
        <p:spPr>
          <a:xfrm>
            <a:off x="6172200" y="141732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09360" y="155448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2</a:t>
            </a:r>
          </a:p>
        </p:txBody>
      </p:sp>
      <p:sp>
        <p:nvSpPr>
          <p:cNvPr id="13" name="TextBox 12"/>
          <p:cNvSpPr txBox="1"/>
          <p:nvPr/>
        </p:nvSpPr>
        <p:spPr>
          <a:xfrm>
            <a:off x="6720840" y="1508760"/>
            <a:ext cx="4617720" cy="914400"/>
          </a:xfrm>
          <a:prstGeom prst="rect">
            <a:avLst/>
          </a:prstGeom>
          <a:noFill/>
        </p:spPr>
        <p:txBody>
          <a:bodyPr wrap="square">
            <a:spAutoFit/>
          </a:bodyPr>
          <a:lstStyle/>
          <a:p>
            <a:pPr>
              <a:defRPr sz="1000" b="1">
                <a:solidFill>
                  <a:srgbClr val="1E3A8A"/>
                </a:solidFill>
                <a:latin typeface="Segoe UI"/>
              </a:defRPr>
            </a:pPr>
            <a:r>
              <a:t>Step 2: Client Dispatch (Fetch API)</a:t>
            </a:r>
          </a:p>
          <a:p>
            <a:pPr>
              <a:defRPr sz="800">
                <a:solidFill>
                  <a:srgbClr val="475569"/>
                </a:solidFill>
                <a:latin typeface="Segoe UI"/>
              </a:defRPr>
            </a:pPr>
            <a:r>
              <a:t>`static/app.js` captures input, attaches session state, and dispatches an asynchronous HTTP POST request to `/api/chat`.</a:t>
            </a:r>
          </a:p>
        </p:txBody>
      </p:sp>
      <p:sp>
        <p:nvSpPr>
          <p:cNvPr id="14" name="Rounded Rectangle 13"/>
          <p:cNvSpPr/>
          <p:nvPr/>
        </p:nvSpPr>
        <p:spPr>
          <a:xfrm>
            <a:off x="731520" y="260604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8680" y="274320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3</a:t>
            </a:r>
          </a:p>
        </p:txBody>
      </p:sp>
      <p:sp>
        <p:nvSpPr>
          <p:cNvPr id="16" name="TextBox 15"/>
          <p:cNvSpPr txBox="1"/>
          <p:nvPr/>
        </p:nvSpPr>
        <p:spPr>
          <a:xfrm>
            <a:off x="1280160" y="2697480"/>
            <a:ext cx="4617720" cy="914400"/>
          </a:xfrm>
          <a:prstGeom prst="rect">
            <a:avLst/>
          </a:prstGeom>
          <a:noFill/>
        </p:spPr>
        <p:txBody>
          <a:bodyPr wrap="square">
            <a:spAutoFit/>
          </a:bodyPr>
          <a:lstStyle/>
          <a:p>
            <a:pPr>
              <a:defRPr sz="1000" b="1">
                <a:solidFill>
                  <a:srgbClr val="1E3A8A"/>
                </a:solidFill>
                <a:latin typeface="Segoe UI"/>
              </a:defRPr>
            </a:pPr>
            <a:r>
              <a:t>Step 3: Web Gateway &amp; Factory</a:t>
            </a:r>
          </a:p>
          <a:p>
            <a:pPr>
              <a:defRPr sz="800">
                <a:solidFill>
                  <a:srgbClr val="475569"/>
                </a:solidFill>
                <a:latin typeface="Segoe UI"/>
              </a:defRPr>
            </a:pPr>
            <a:r>
              <a:t>Render routes traffic to Gunicorn, which dispatches to Flask's `chat_routes.py`. `ConversationManager` pulls prior dialogue history from SQLite.</a:t>
            </a:r>
          </a:p>
        </p:txBody>
      </p:sp>
      <p:sp>
        <p:nvSpPr>
          <p:cNvPr id="17" name="Rounded Rectangle 16"/>
          <p:cNvSpPr/>
          <p:nvPr/>
        </p:nvSpPr>
        <p:spPr>
          <a:xfrm>
            <a:off x="6172200" y="260604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09360" y="274320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4</a:t>
            </a:r>
          </a:p>
        </p:txBody>
      </p:sp>
      <p:sp>
        <p:nvSpPr>
          <p:cNvPr id="19" name="TextBox 18"/>
          <p:cNvSpPr txBox="1"/>
          <p:nvPr/>
        </p:nvSpPr>
        <p:spPr>
          <a:xfrm>
            <a:off x="6720840" y="2697480"/>
            <a:ext cx="4617720" cy="914400"/>
          </a:xfrm>
          <a:prstGeom prst="rect">
            <a:avLst/>
          </a:prstGeom>
          <a:noFill/>
        </p:spPr>
        <p:txBody>
          <a:bodyPr wrap="square">
            <a:spAutoFit/>
          </a:bodyPr>
          <a:lstStyle/>
          <a:p>
            <a:pPr>
              <a:defRPr sz="1000" b="1">
                <a:solidFill>
                  <a:srgbClr val="1E3A8A"/>
                </a:solidFill>
                <a:latin typeface="Segoe UI"/>
              </a:defRPr>
            </a:pPr>
            <a:r>
              <a:t>Step 4: Groq AI Natural Understanding</a:t>
            </a:r>
          </a:p>
          <a:p>
            <a:pPr>
              <a:defRPr sz="800">
                <a:solidFill>
                  <a:srgbClr val="475569"/>
                </a:solidFill>
                <a:latin typeface="Segoe UI"/>
              </a:defRPr>
            </a:pPr>
            <a:r>
              <a:t>Backend invokes Groq Cloud Llama-3.3-70B via REST. Model analyzes intent, entities, sentiment, and customer frustration without inventing policies.</a:t>
            </a:r>
          </a:p>
        </p:txBody>
      </p:sp>
      <p:sp>
        <p:nvSpPr>
          <p:cNvPr id="20" name="Rounded Rectangle 19"/>
          <p:cNvSpPr/>
          <p:nvPr/>
        </p:nvSpPr>
        <p:spPr>
          <a:xfrm>
            <a:off x="731520" y="379476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8680" y="393192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5</a:t>
            </a:r>
          </a:p>
        </p:txBody>
      </p:sp>
      <p:sp>
        <p:nvSpPr>
          <p:cNvPr id="22" name="TextBox 21"/>
          <p:cNvSpPr txBox="1"/>
          <p:nvPr/>
        </p:nvSpPr>
        <p:spPr>
          <a:xfrm>
            <a:off x="1280160" y="3886200"/>
            <a:ext cx="4617720" cy="914400"/>
          </a:xfrm>
          <a:prstGeom prst="rect">
            <a:avLst/>
          </a:prstGeom>
          <a:noFill/>
        </p:spPr>
        <p:txBody>
          <a:bodyPr wrap="square">
            <a:spAutoFit/>
          </a:bodyPr>
          <a:lstStyle/>
          <a:p>
            <a:pPr>
              <a:defRPr sz="1000" b="1">
                <a:solidFill>
                  <a:srgbClr val="1E3A8A"/>
                </a:solidFill>
                <a:latin typeface="Segoe UI"/>
              </a:defRPr>
            </a:pPr>
            <a:r>
              <a:t>Step 5: Policy Guardrail Evaluation</a:t>
            </a:r>
          </a:p>
          <a:p>
            <a:pPr>
              <a:defRPr sz="800">
                <a:solidFill>
                  <a:srgbClr val="475569"/>
                </a:solidFill>
                <a:latin typeface="Segoe UI"/>
              </a:defRPr>
            </a:pPr>
            <a:r>
              <a:t>`PolicyEngine` cross-checks facts against Assignment 3 rules: grants full refund eligibility (POL-CANCEL-01) and denies out-of-policy upgrades (POL-LOYALTY-01).</a:t>
            </a:r>
          </a:p>
        </p:txBody>
      </p:sp>
      <p:sp>
        <p:nvSpPr>
          <p:cNvPr id="23" name="Rounded Rectangle 22"/>
          <p:cNvSpPr/>
          <p:nvPr/>
        </p:nvSpPr>
        <p:spPr>
          <a:xfrm>
            <a:off x="6172200" y="379476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09360" y="393192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6</a:t>
            </a:r>
          </a:p>
        </p:txBody>
      </p:sp>
      <p:sp>
        <p:nvSpPr>
          <p:cNvPr id="25" name="TextBox 24"/>
          <p:cNvSpPr txBox="1"/>
          <p:nvPr/>
        </p:nvSpPr>
        <p:spPr>
          <a:xfrm>
            <a:off x="6720840" y="3886200"/>
            <a:ext cx="4617720" cy="914400"/>
          </a:xfrm>
          <a:prstGeom prst="rect">
            <a:avLst/>
          </a:prstGeom>
          <a:noFill/>
        </p:spPr>
        <p:txBody>
          <a:bodyPr wrap="square">
            <a:spAutoFit/>
          </a:bodyPr>
          <a:lstStyle/>
          <a:p>
            <a:pPr>
              <a:defRPr sz="1000" b="1">
                <a:solidFill>
                  <a:srgbClr val="1E3A8A"/>
                </a:solidFill>
                <a:latin typeface="Segoe UI"/>
              </a:defRPr>
            </a:pPr>
            <a:r>
              <a:t>Step 6: Safe Tool &amp; Action Lifecycle</a:t>
            </a:r>
          </a:p>
          <a:p>
            <a:pPr>
              <a:defRPr sz="800">
                <a:solidFill>
                  <a:srgbClr val="475569"/>
                </a:solidFill>
                <a:latin typeface="Segoe UI"/>
              </a:defRPr>
            </a:pPr>
            <a:r>
              <a:t>`ActionService` stages irreversible operations in `awaiting_confirmation` status with unique idempotency keys. Out-of-policy requests trigger `EscalationService`.</a:t>
            </a:r>
          </a:p>
        </p:txBody>
      </p:sp>
      <p:sp>
        <p:nvSpPr>
          <p:cNvPr id="26" name="Rounded Rectangle 25"/>
          <p:cNvSpPr/>
          <p:nvPr/>
        </p:nvSpPr>
        <p:spPr>
          <a:xfrm>
            <a:off x="731520" y="498348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68680" y="512064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7</a:t>
            </a:r>
          </a:p>
        </p:txBody>
      </p:sp>
      <p:sp>
        <p:nvSpPr>
          <p:cNvPr id="28" name="TextBox 27"/>
          <p:cNvSpPr txBox="1"/>
          <p:nvPr/>
        </p:nvSpPr>
        <p:spPr>
          <a:xfrm>
            <a:off x="1280160" y="5074920"/>
            <a:ext cx="4617720" cy="914400"/>
          </a:xfrm>
          <a:prstGeom prst="rect">
            <a:avLst/>
          </a:prstGeom>
          <a:noFill/>
        </p:spPr>
        <p:txBody>
          <a:bodyPr wrap="square">
            <a:spAutoFit/>
          </a:bodyPr>
          <a:lstStyle/>
          <a:p>
            <a:pPr>
              <a:defRPr sz="1000" b="1">
                <a:solidFill>
                  <a:srgbClr val="1E3A8A"/>
                </a:solidFill>
                <a:latin typeface="Segoe UI"/>
              </a:defRPr>
            </a:pPr>
            <a:r>
              <a:t>Step 7: Database Persistence &amp; Audit</a:t>
            </a:r>
          </a:p>
          <a:p>
            <a:pPr>
              <a:defRPr sz="800">
                <a:solidFill>
                  <a:srgbClr val="475569"/>
                </a:solidFill>
                <a:latin typeface="Segoe UI"/>
              </a:defRPr>
            </a:pPr>
            <a:r>
              <a:t>Dialogue turns, agent decisions, telemetry metadata, and supervisor ticket records are atomically committed to SQLite (`conversation.db`).</a:t>
            </a:r>
          </a:p>
        </p:txBody>
      </p:sp>
      <p:sp>
        <p:nvSpPr>
          <p:cNvPr id="29" name="Rounded Rectangle 28"/>
          <p:cNvSpPr/>
          <p:nvPr/>
        </p:nvSpPr>
        <p:spPr>
          <a:xfrm>
            <a:off x="6172200" y="4983480"/>
            <a:ext cx="5303520"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09360" y="5120640"/>
            <a:ext cx="320040" cy="3200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8</a:t>
            </a:r>
          </a:p>
        </p:txBody>
      </p:sp>
      <p:sp>
        <p:nvSpPr>
          <p:cNvPr id="31" name="TextBox 30"/>
          <p:cNvSpPr txBox="1"/>
          <p:nvPr/>
        </p:nvSpPr>
        <p:spPr>
          <a:xfrm>
            <a:off x="6720840" y="5074920"/>
            <a:ext cx="4617720" cy="914400"/>
          </a:xfrm>
          <a:prstGeom prst="rect">
            <a:avLst/>
          </a:prstGeom>
          <a:noFill/>
        </p:spPr>
        <p:txBody>
          <a:bodyPr wrap="square">
            <a:spAutoFit/>
          </a:bodyPr>
          <a:lstStyle/>
          <a:p>
            <a:pPr>
              <a:defRPr sz="1000" b="1">
                <a:solidFill>
                  <a:srgbClr val="1E3A8A"/>
                </a:solidFill>
                <a:latin typeface="Segoe UI"/>
              </a:defRPr>
            </a:pPr>
            <a:r>
              <a:t>Step 8: Interactive UI Rendering</a:t>
            </a:r>
          </a:p>
          <a:p>
            <a:pPr>
              <a:defRPr sz="800">
                <a:solidFill>
                  <a:srgbClr val="475569"/>
                </a:solidFill>
                <a:latin typeface="Segoe UI"/>
              </a:defRPr>
            </a:pPr>
            <a:r>
              <a:t>Browser renders empathetic AI response with policy citation badges, supervisor escalation pill, and an interactive Action Card with Approve/Cancel buttons.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SCENARIO VERIFICATION</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Required Scenario Testing: Exact Assignment 3 Scenarios</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8 of 10</a:t>
            </a:r>
          </a:p>
        </p:txBody>
      </p:sp>
      <p:sp>
        <p:nvSpPr>
          <p:cNvPr id="8" name="Rounded Rectangle 7"/>
          <p:cNvSpPr/>
          <p:nvPr/>
        </p:nvSpPr>
        <p:spPr>
          <a:xfrm>
            <a:off x="731520" y="1417320"/>
            <a:ext cx="347472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17320"/>
            <a:ext cx="3474720" cy="59436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Scenario 1: Priya Nair (Gold Tier)</a:t>
            </a:r>
          </a:p>
          <a:p>
            <a:pPr>
              <a:defRPr sz="800">
                <a:solidFill>
                  <a:srgbClr val="F1F5F9"/>
                </a:solidFill>
                <a:latin typeface="Segoe UI"/>
              </a:defRPr>
            </a:pPr>
            <a:r>
              <a:t>Flight SK-204 · Delhi to Goa · Cancelled</a:t>
            </a:r>
          </a:p>
        </p:txBody>
      </p:sp>
      <p:sp>
        <p:nvSpPr>
          <p:cNvPr id="10" name="TextBox 9"/>
          <p:cNvSpPr txBox="1"/>
          <p:nvPr/>
        </p:nvSpPr>
        <p:spPr>
          <a:xfrm>
            <a:off x="868680" y="2103120"/>
            <a:ext cx="3200400" cy="3931920"/>
          </a:xfrm>
          <a:prstGeom prst="rect">
            <a:avLst/>
          </a:prstGeom>
          <a:noFill/>
        </p:spPr>
        <p:txBody>
          <a:bodyPr wrap="square">
            <a:spAutoFit/>
          </a:bodyPr>
          <a:lstStyle/>
          <a:p>
            <a:pPr>
              <a:defRPr sz="850" b="1">
                <a:solidFill>
                  <a:srgbClr val="1E3A8A"/>
                </a:solidFill>
              </a:defRPr>
            </a:pPr>
            <a:r>
              <a:t>PASSENGER DEMAND</a:t>
            </a:r>
          </a:p>
          <a:p>
            <a:pPr>
              <a:spcAft>
                <a:spcPts val="600"/>
              </a:spcAft>
              <a:defRPr sz="800">
                <a:solidFill>
                  <a:srgbClr val="475569"/>
                </a:solidFill>
              </a:defRPr>
            </a:pPr>
            <a:r>
              <a:t>Customer Demand:</a:t>
            </a:r>
            <a:br/>
            <a:r>
              <a:t>• Demands 100% full cash refund immediately.</a:t>
            </a:r>
            <a:br/>
            <a:r>
              <a:t>• Demands free upgrade to Business Class on return.</a:t>
            </a:r>
            <a:br/>
            <a:r>
              <a:t>• Highly agitated and furious tone.</a:t>
            </a:r>
          </a:p>
          <a:p>
            <a:pPr>
              <a:defRPr sz="850" b="1">
                <a:solidFill>
                  <a:srgbClr val="1E3A8A"/>
                </a:solidFill>
              </a:defRPr>
            </a:pPr>
            <a:r>
              <a:t>SYSTEM RESOLUTION &amp; POLICY</a:t>
            </a:r>
          </a:p>
          <a:p>
            <a:pPr>
              <a:defRPr sz="800">
                <a:solidFill>
                  <a:srgbClr val="475569"/>
                </a:solidFill>
              </a:defRPr>
            </a:pPr>
            <a:r>
              <a:t>System Resolution &amp; Enforcement:</a:t>
            </a:r>
            <a:br/>
            <a:r>
              <a:t>✓ Entitled to full cash refund within 7 business days (POL-CANCEL-01) OR priority rebooking (POL-LOYALTY-01).</a:t>
            </a:r>
            <a:br/>
            <a:r>
              <a:t>✗ Cabin upgrade strictly denied by policy (POL-LOYALTY-01).</a:t>
            </a:r>
            <a:br/>
            <a:r>
              <a:t>⚠️ Upgrade request automatically escalated to human supervisor ticket.</a:t>
            </a:r>
            <a:br/>
            <a:r>
              <a:t>✓ Action staged in 'awaiting_confirmation' with interactive UI card.</a:t>
            </a:r>
          </a:p>
        </p:txBody>
      </p:sp>
      <p:sp>
        <p:nvSpPr>
          <p:cNvPr id="11" name="Rounded Rectangle 10"/>
          <p:cNvSpPr/>
          <p:nvPr/>
        </p:nvSpPr>
        <p:spPr>
          <a:xfrm>
            <a:off x="4343400" y="1417320"/>
            <a:ext cx="347472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417320"/>
            <a:ext cx="3474720" cy="594360"/>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Scenario 2: Arvind Kulkarni (Silver Tier)</a:t>
            </a:r>
          </a:p>
          <a:p>
            <a:pPr>
              <a:defRPr sz="800">
                <a:solidFill>
                  <a:srgbClr val="F1F5F9"/>
                </a:solidFill>
                <a:latin typeface="Segoe UI"/>
              </a:defRPr>
            </a:pPr>
            <a:r>
              <a:t>Flight SK-118 · Mumbai to Bengaluru · Delayed 4 Hours</a:t>
            </a:r>
          </a:p>
        </p:txBody>
      </p:sp>
      <p:sp>
        <p:nvSpPr>
          <p:cNvPr id="13" name="TextBox 12"/>
          <p:cNvSpPr txBox="1"/>
          <p:nvPr/>
        </p:nvSpPr>
        <p:spPr>
          <a:xfrm>
            <a:off x="4480560" y="2103120"/>
            <a:ext cx="3200400" cy="3931920"/>
          </a:xfrm>
          <a:prstGeom prst="rect">
            <a:avLst/>
          </a:prstGeom>
          <a:noFill/>
        </p:spPr>
        <p:txBody>
          <a:bodyPr wrap="square">
            <a:spAutoFit/>
          </a:bodyPr>
          <a:lstStyle/>
          <a:p>
            <a:pPr>
              <a:defRPr sz="850" b="1">
                <a:solidFill>
                  <a:srgbClr val="1E3A8A"/>
                </a:solidFill>
              </a:defRPr>
            </a:pPr>
            <a:r>
              <a:t>PASSENGER DEMAND</a:t>
            </a:r>
          </a:p>
          <a:p>
            <a:pPr>
              <a:spcAft>
                <a:spcPts val="600"/>
              </a:spcAft>
              <a:defRPr sz="800">
                <a:solidFill>
                  <a:srgbClr val="475569"/>
                </a:solidFill>
              </a:defRPr>
            </a:pPr>
            <a:r>
              <a:t>Customer Demand:</a:t>
            </a:r>
            <a:br/>
            <a:r>
              <a:t>• Flight delayed by 4 hours; missed important business meeting.</a:t>
            </a:r>
            <a:br/>
            <a:r>
              <a:t>• Demands complimentary hotel accommodation.</a:t>
            </a:r>
            <a:br/>
            <a:r>
              <a:t>• Frustrated and seeking immediate remedy.</a:t>
            </a:r>
          </a:p>
          <a:p>
            <a:pPr>
              <a:defRPr sz="850" b="1">
                <a:solidFill>
                  <a:srgbClr val="1E3A8A"/>
                </a:solidFill>
              </a:defRPr>
            </a:pPr>
            <a:r>
              <a:t>SYSTEM RESOLUTION &amp; POLICY</a:t>
            </a:r>
          </a:p>
          <a:p>
            <a:pPr>
              <a:defRPr sz="800">
                <a:solidFill>
                  <a:srgbClr val="475569"/>
                </a:solidFill>
              </a:defRPr>
            </a:pPr>
            <a:r>
              <a:t>System Resolution &amp; Enforcement:</a:t>
            </a:r>
            <a:br/>
            <a:r>
              <a:t>✓ Entitled to ₹500 meal voucher + lounge access for 3-5h delay (POL-DELAY-02).</a:t>
            </a:r>
            <a:br/>
            <a:r>
              <a:t>✗ Hotel accommodation explicitly denied: policy requires delay &gt; 5 hours for hotel entitlement.</a:t>
            </a:r>
            <a:br/>
            <a:r>
              <a:t>✓ Agent applies meal voucher and lounge pass to profile immediately.</a:t>
            </a:r>
            <a:br/>
            <a:r>
              <a:t>✓ Explains policy empathetically without defensive language.</a:t>
            </a:r>
          </a:p>
        </p:txBody>
      </p:sp>
      <p:sp>
        <p:nvSpPr>
          <p:cNvPr id="14" name="Rounded Rectangle 13"/>
          <p:cNvSpPr/>
          <p:nvPr/>
        </p:nvSpPr>
        <p:spPr>
          <a:xfrm>
            <a:off x="7955280" y="1417320"/>
            <a:ext cx="347472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417320"/>
            <a:ext cx="3474720" cy="594360"/>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Scenario 3: Meher Kaur (Platinum Tier)</a:t>
            </a:r>
          </a:p>
          <a:p>
            <a:pPr>
              <a:defRPr sz="800">
                <a:solidFill>
                  <a:srgbClr val="F1F5F9"/>
                </a:solidFill>
                <a:latin typeface="Segoe UI"/>
              </a:defRPr>
            </a:pPr>
            <a:r>
              <a:t>Flight SK-305 · Delhi to Hyderabad · Delayed 6 Hours</a:t>
            </a:r>
          </a:p>
        </p:txBody>
      </p:sp>
      <p:sp>
        <p:nvSpPr>
          <p:cNvPr id="16" name="TextBox 15"/>
          <p:cNvSpPr txBox="1"/>
          <p:nvPr/>
        </p:nvSpPr>
        <p:spPr>
          <a:xfrm>
            <a:off x="8092440" y="2103120"/>
            <a:ext cx="3200400" cy="3931920"/>
          </a:xfrm>
          <a:prstGeom prst="rect">
            <a:avLst/>
          </a:prstGeom>
          <a:noFill/>
        </p:spPr>
        <p:txBody>
          <a:bodyPr wrap="square">
            <a:spAutoFit/>
          </a:bodyPr>
          <a:lstStyle/>
          <a:p>
            <a:pPr>
              <a:defRPr sz="850" b="1">
                <a:solidFill>
                  <a:srgbClr val="1E3A8A"/>
                </a:solidFill>
              </a:defRPr>
            </a:pPr>
            <a:r>
              <a:t>PASSENGER DEMAND</a:t>
            </a:r>
          </a:p>
          <a:p>
            <a:pPr>
              <a:spcAft>
                <a:spcPts val="600"/>
              </a:spcAft>
              <a:defRPr sz="800">
                <a:solidFill>
                  <a:srgbClr val="475569"/>
                </a:solidFill>
              </a:defRPr>
            </a:pPr>
            <a:r>
              <a:t>Customer Demand:</a:t>
            </a:r>
            <a:br/>
            <a:r>
              <a:t>• 6-hour technical delay (new departure: 20:00).</a:t>
            </a:r>
            <a:br/>
            <a:r>
              <a:t>• Demands full-night hotel stay.</a:t>
            </a:r>
            <a:br/>
            <a:r>
              <a:t>• Demands rebooking on alternate flight with ₹2,000 fare difference waiver.</a:t>
            </a:r>
          </a:p>
          <a:p>
            <a:pPr>
              <a:defRPr sz="850" b="1">
                <a:solidFill>
                  <a:srgbClr val="1E3A8A"/>
                </a:solidFill>
              </a:defRPr>
            </a:pPr>
            <a:r>
              <a:t>SYSTEM RESOLUTION &amp; POLICY</a:t>
            </a:r>
          </a:p>
          <a:p>
            <a:pPr>
              <a:defRPr sz="800">
                <a:solidFill>
                  <a:srgbClr val="475569"/>
                </a:solidFill>
              </a:defRPr>
            </a:pPr>
            <a:r>
              <a:t>System Resolution &amp; Enforcement:</a:t>
            </a:r>
            <a:br/>
            <a:r>
              <a:t>✓ Entitled to meal voucher, lounge access, and hotel accommodation covering delayed hours only (POL-DELAY-03).</a:t>
            </a:r>
            <a:br/>
            <a:r>
              <a:t>✗ Full-night hotel stay denied under stated rule.</a:t>
            </a:r>
            <a:br/>
            <a:r>
              <a:t>⚠️ ₹2,000 fare waiver exceeds agent ₹1,500 limit (POL-FARE-01); escalated to supervisor for waiver approval.</a:t>
            </a:r>
            <a:br/>
            <a:r>
              <a:t>✓ Platinum tier priority rebooking applied.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EXECUTION RESULTS</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Application Demonstration: Live Execution Screenshots</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9 of 10</a:t>
            </a:r>
          </a:p>
        </p:txBody>
      </p:sp>
      <p:sp>
        <p:nvSpPr>
          <p:cNvPr id="8" name="Rounded Rectangle 7"/>
          <p:cNvSpPr/>
          <p:nvPr/>
        </p:nvSpPr>
        <p:spPr>
          <a:xfrm>
            <a:off x="731520" y="1417320"/>
            <a:ext cx="530352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home.png"/>
          <p:cNvPicPr>
            <a:picLocks noChangeAspect="1"/>
          </p:cNvPicPr>
          <p:nvPr/>
        </p:nvPicPr>
        <p:blipFill>
          <a:blip r:embed="rId2"/>
          <a:stretch>
            <a:fillRect/>
          </a:stretch>
        </p:blipFill>
        <p:spPr>
          <a:xfrm>
            <a:off x="822960" y="1508760"/>
            <a:ext cx="2926080" cy="2103120"/>
          </a:xfrm>
          <a:prstGeom prst="rect">
            <a:avLst/>
          </a:prstGeom>
        </p:spPr>
      </p:pic>
      <p:sp>
        <p:nvSpPr>
          <p:cNvPr id="10" name="TextBox 9"/>
          <p:cNvSpPr txBox="1"/>
          <p:nvPr/>
        </p:nvSpPr>
        <p:spPr>
          <a:xfrm>
            <a:off x="3840480" y="1554480"/>
            <a:ext cx="2057400" cy="2011680"/>
          </a:xfrm>
          <a:prstGeom prst="rect">
            <a:avLst/>
          </a:prstGeom>
          <a:noFill/>
        </p:spPr>
        <p:txBody>
          <a:bodyPr wrap="square">
            <a:spAutoFit/>
          </a:bodyPr>
          <a:lstStyle/>
          <a:p>
            <a:pPr>
              <a:spcAft>
                <a:spcPts val="400"/>
              </a:spcAft>
              <a:defRPr sz="950" b="1">
                <a:solidFill>
                  <a:srgbClr val="1E3A8A"/>
                </a:solidFill>
                <a:latin typeface="Segoe UI"/>
              </a:defRPr>
            </a:pPr>
            <a:r>
              <a:t>1. Operations Dashboard</a:t>
            </a:r>
          </a:p>
          <a:p>
            <a:pPr>
              <a:defRPr sz="800">
                <a:solidFill>
                  <a:srgbClr val="475569"/>
                </a:solidFill>
                <a:latin typeface="Segoe UI"/>
              </a:defRPr>
            </a:pPr>
            <a:r>
              <a:t>Full 3-panel UI with live flight facts, PNR context, and audit log tabs.</a:t>
            </a:r>
          </a:p>
        </p:txBody>
      </p:sp>
      <p:sp>
        <p:nvSpPr>
          <p:cNvPr id="11" name="Rounded Rectangle 10"/>
          <p:cNvSpPr/>
          <p:nvPr/>
        </p:nvSpPr>
        <p:spPr>
          <a:xfrm>
            <a:off x="6172200" y="1417320"/>
            <a:ext cx="530352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_scenario1_priya.png"/>
          <p:cNvPicPr>
            <a:picLocks noChangeAspect="1"/>
          </p:cNvPicPr>
          <p:nvPr/>
        </p:nvPicPr>
        <p:blipFill>
          <a:blip r:embed="rId3"/>
          <a:stretch>
            <a:fillRect/>
          </a:stretch>
        </p:blipFill>
        <p:spPr>
          <a:xfrm>
            <a:off x="6263640" y="1508760"/>
            <a:ext cx="2926080" cy="2103120"/>
          </a:xfrm>
          <a:prstGeom prst="rect">
            <a:avLst/>
          </a:prstGeom>
        </p:spPr>
      </p:pic>
      <p:sp>
        <p:nvSpPr>
          <p:cNvPr id="13" name="TextBox 12"/>
          <p:cNvSpPr txBox="1"/>
          <p:nvPr/>
        </p:nvSpPr>
        <p:spPr>
          <a:xfrm>
            <a:off x="9281160" y="1554480"/>
            <a:ext cx="2057400" cy="2011680"/>
          </a:xfrm>
          <a:prstGeom prst="rect">
            <a:avLst/>
          </a:prstGeom>
          <a:noFill/>
        </p:spPr>
        <p:txBody>
          <a:bodyPr wrap="square">
            <a:spAutoFit/>
          </a:bodyPr>
          <a:lstStyle/>
          <a:p>
            <a:pPr>
              <a:spcAft>
                <a:spcPts val="400"/>
              </a:spcAft>
              <a:defRPr sz="950" b="1">
                <a:solidFill>
                  <a:srgbClr val="1E3A8A"/>
                </a:solidFill>
                <a:latin typeface="Segoe UI"/>
              </a:defRPr>
            </a:pPr>
            <a:r>
              <a:t>2. Priya: Cancellation &amp; Action Card</a:t>
            </a:r>
          </a:p>
          <a:p>
            <a:pPr>
              <a:defRPr sz="800">
                <a:solidFill>
                  <a:srgbClr val="475569"/>
                </a:solidFill>
                <a:latin typeface="Segoe UI"/>
              </a:defRPr>
            </a:pPr>
            <a:r>
              <a:t>Full refund staged with interactive Approve/Cancel buttons; upgrade escalated.</a:t>
            </a:r>
          </a:p>
        </p:txBody>
      </p:sp>
      <p:sp>
        <p:nvSpPr>
          <p:cNvPr id="14" name="Rounded Rectangle 13"/>
          <p:cNvSpPr/>
          <p:nvPr/>
        </p:nvSpPr>
        <p:spPr>
          <a:xfrm>
            <a:off x="731520" y="3840480"/>
            <a:ext cx="530352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creenshot_scenario2_arvind.png"/>
          <p:cNvPicPr>
            <a:picLocks noChangeAspect="1"/>
          </p:cNvPicPr>
          <p:nvPr/>
        </p:nvPicPr>
        <p:blipFill>
          <a:blip r:embed="rId4"/>
          <a:stretch>
            <a:fillRect/>
          </a:stretch>
        </p:blipFill>
        <p:spPr>
          <a:xfrm>
            <a:off x="822960" y="3931920"/>
            <a:ext cx="2926080" cy="2103120"/>
          </a:xfrm>
          <a:prstGeom prst="rect">
            <a:avLst/>
          </a:prstGeom>
        </p:spPr>
      </p:pic>
      <p:sp>
        <p:nvSpPr>
          <p:cNvPr id="16" name="TextBox 15"/>
          <p:cNvSpPr txBox="1"/>
          <p:nvPr/>
        </p:nvSpPr>
        <p:spPr>
          <a:xfrm>
            <a:off x="3840480" y="3977640"/>
            <a:ext cx="2057400" cy="2011680"/>
          </a:xfrm>
          <a:prstGeom prst="rect">
            <a:avLst/>
          </a:prstGeom>
          <a:noFill/>
        </p:spPr>
        <p:txBody>
          <a:bodyPr wrap="square">
            <a:spAutoFit/>
          </a:bodyPr>
          <a:lstStyle/>
          <a:p>
            <a:pPr>
              <a:spcAft>
                <a:spcPts val="400"/>
              </a:spcAft>
              <a:defRPr sz="950" b="1">
                <a:solidFill>
                  <a:srgbClr val="1E3A8A"/>
                </a:solidFill>
                <a:latin typeface="Segoe UI"/>
              </a:defRPr>
            </a:pPr>
            <a:r>
              <a:t>3. Arvind: 4h Delay &amp; Policy Denial</a:t>
            </a:r>
          </a:p>
          <a:p>
            <a:pPr>
              <a:defRPr sz="800">
                <a:solidFill>
                  <a:srgbClr val="475569"/>
                </a:solidFill>
                <a:latin typeface="Segoe UI"/>
              </a:defRPr>
            </a:pPr>
            <a:r>
              <a:t>Meal voucher + lounge access issued; hotel stay denied per 5-hour policy rule.</a:t>
            </a:r>
          </a:p>
        </p:txBody>
      </p:sp>
      <p:sp>
        <p:nvSpPr>
          <p:cNvPr id="17" name="Rounded Rectangle 16"/>
          <p:cNvSpPr/>
          <p:nvPr/>
        </p:nvSpPr>
        <p:spPr>
          <a:xfrm>
            <a:off x="6172200" y="3840480"/>
            <a:ext cx="5303520"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creenshot_scenario3_meher.png"/>
          <p:cNvPicPr>
            <a:picLocks noChangeAspect="1"/>
          </p:cNvPicPr>
          <p:nvPr/>
        </p:nvPicPr>
        <p:blipFill>
          <a:blip r:embed="rId5"/>
          <a:stretch>
            <a:fillRect/>
          </a:stretch>
        </p:blipFill>
        <p:spPr>
          <a:xfrm>
            <a:off x="6263640" y="3931920"/>
            <a:ext cx="2926080" cy="2103120"/>
          </a:xfrm>
          <a:prstGeom prst="rect">
            <a:avLst/>
          </a:prstGeom>
        </p:spPr>
      </p:pic>
      <p:sp>
        <p:nvSpPr>
          <p:cNvPr id="19" name="TextBox 18"/>
          <p:cNvSpPr txBox="1"/>
          <p:nvPr/>
        </p:nvSpPr>
        <p:spPr>
          <a:xfrm>
            <a:off x="9281160" y="3977640"/>
            <a:ext cx="2057400" cy="2011680"/>
          </a:xfrm>
          <a:prstGeom prst="rect">
            <a:avLst/>
          </a:prstGeom>
          <a:noFill/>
        </p:spPr>
        <p:txBody>
          <a:bodyPr wrap="square">
            <a:spAutoFit/>
          </a:bodyPr>
          <a:lstStyle/>
          <a:p>
            <a:pPr>
              <a:spcAft>
                <a:spcPts val="400"/>
              </a:spcAft>
              <a:defRPr sz="950" b="1">
                <a:solidFill>
                  <a:srgbClr val="1E3A8A"/>
                </a:solidFill>
                <a:latin typeface="Segoe UI"/>
              </a:defRPr>
            </a:pPr>
            <a:r>
              <a:t>4. Meher: 6h Delay &amp; Waiver Escalation</a:t>
            </a:r>
          </a:p>
          <a:p>
            <a:pPr>
              <a:defRPr sz="800">
                <a:solidFill>
                  <a:srgbClr val="475569"/>
                </a:solidFill>
                <a:latin typeface="Segoe UI"/>
              </a:defRPr>
            </a:pPr>
            <a:r>
              <a:t>Delayed-hours hotel stay issued; ₹2,000 fare waiver escalated to human supervisor.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292608"/>
          </a:xfrm>
          <a:prstGeom prst="roundRect">
            <a:avLst/>
          </a:prstGeom>
          <a:solidFill>
            <a:srgbClr val="EFF6FF"/>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D4ED8"/>
                </a:solidFill>
                <a:latin typeface="Segoe UI"/>
              </a:defRPr>
            </a:pPr>
            <a:r>
              <a:t>FINAL SUMMARY</a:t>
            </a:r>
          </a:p>
        </p:txBody>
      </p:sp>
      <p:sp>
        <p:nvSpPr>
          <p:cNvPr id="4" name="TextBox 3"/>
          <p:cNvSpPr txBox="1"/>
          <p:nvPr/>
        </p:nvSpPr>
        <p:spPr>
          <a:xfrm>
            <a:off x="731520" y="822960"/>
            <a:ext cx="9144000" cy="548640"/>
          </a:xfrm>
          <a:prstGeom prst="rect">
            <a:avLst/>
          </a:prstGeom>
          <a:noFill/>
        </p:spPr>
        <p:txBody>
          <a:bodyPr wrap="square">
            <a:spAutoFit/>
          </a:bodyPr>
          <a:lstStyle/>
          <a:p>
            <a:pPr>
              <a:defRPr sz="2000" b="1">
                <a:solidFill>
                  <a:srgbClr val="1E3A8A"/>
                </a:solidFill>
                <a:latin typeface="Segoe UI"/>
              </a:defRPr>
            </a:pPr>
            <a:r>
              <a:t>Conclusion &amp; Project Delivery Links</a:t>
            </a:r>
          </a:p>
        </p:txBody>
      </p:sp>
      <p:sp>
        <p:nvSpPr>
          <p:cNvPr id="5" name="Rectangle 4"/>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4748B"/>
                </a:solidFill>
                <a:latin typeface="Segoe UI"/>
              </a:defRPr>
            </a:pPr>
            <a:r>
              <a:t>Customer Resolution Agent · Assignment 3 Presentation · Vatsal Mittal</a:t>
            </a:r>
          </a:p>
        </p:txBody>
      </p:sp>
      <p:sp>
        <p:nvSpPr>
          <p:cNvPr id="7" name="TextBox 6"/>
          <p:cNvSpPr txBox="1"/>
          <p:nvPr/>
        </p:nvSpPr>
        <p:spPr>
          <a:xfrm>
            <a:off x="9601200" y="6446520"/>
            <a:ext cx="1858975" cy="320040"/>
          </a:xfrm>
          <a:prstGeom prst="rect">
            <a:avLst/>
          </a:prstGeom>
          <a:noFill/>
        </p:spPr>
        <p:txBody>
          <a:bodyPr wrap="none">
            <a:spAutoFit/>
          </a:bodyPr>
          <a:lstStyle/>
          <a:p>
            <a:pPr algn="r">
              <a:defRPr sz="850" b="1">
                <a:solidFill>
                  <a:srgbClr val="1D4ED8"/>
                </a:solidFill>
                <a:latin typeface="Segoe UI"/>
              </a:defRPr>
            </a:pPr>
            <a:r>
              <a:t>Slide 10 of 10</a:t>
            </a:r>
          </a:p>
        </p:txBody>
      </p:sp>
      <p:sp>
        <p:nvSpPr>
          <p:cNvPr id="8" name="Rounded Rectangle 7"/>
          <p:cNvSpPr/>
          <p:nvPr/>
        </p:nvSpPr>
        <p:spPr>
          <a:xfrm>
            <a:off x="731520" y="1463040"/>
            <a:ext cx="5943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5669280" cy="365760"/>
          </a:xfrm>
          <a:prstGeom prst="rect">
            <a:avLst/>
          </a:prstGeom>
          <a:noFill/>
        </p:spPr>
        <p:txBody>
          <a:bodyPr wrap="none">
            <a:spAutoFit/>
          </a:bodyPr>
          <a:lstStyle/>
          <a:p>
            <a:pPr>
              <a:defRPr sz="1100" b="1">
                <a:solidFill>
                  <a:srgbClr val="1E3A8A"/>
                </a:solidFill>
                <a:latin typeface="Segoe UI"/>
              </a:defRPr>
            </a:pPr>
            <a:r>
              <a:t>Project Achievements &amp; Architectural Highlights</a:t>
            </a:r>
          </a:p>
        </p:txBody>
      </p:sp>
      <p:sp>
        <p:nvSpPr>
          <p:cNvPr id="10" name="TextBox 9"/>
          <p:cNvSpPr txBox="1"/>
          <p:nvPr/>
        </p:nvSpPr>
        <p:spPr>
          <a:xfrm>
            <a:off x="868680" y="1920240"/>
            <a:ext cx="5669280" cy="4114800"/>
          </a:xfrm>
          <a:prstGeom prst="rect">
            <a:avLst/>
          </a:prstGeom>
          <a:noFill/>
        </p:spPr>
        <p:txBody>
          <a:bodyPr wrap="square">
            <a:spAutoFit/>
          </a:bodyPr>
          <a:lstStyle/>
          <a:p>
            <a:pPr>
              <a:spcAft>
                <a:spcPts val="500"/>
              </a:spcAft>
              <a:defRPr sz="950">
                <a:solidFill>
                  <a:srgbClr val="1E3A8A"/>
                </a:solidFill>
                <a:latin typeface="Segoe UI"/>
              </a:defRPr>
            </a:pPr>
            <a:r>
              <a:t>★ Autonomous AI Resolution Agent: Successfully engineered an end-to-end customer resolution system combining modern LLM reasoning with deterministic policy guardrails.</a:t>
            </a:r>
          </a:p>
          <a:p>
            <a:pPr>
              <a:spcAft>
                <a:spcPts val="500"/>
              </a:spcAft>
              <a:defRPr sz="950">
                <a:solidFill>
                  <a:srgbClr val="1E3A8A"/>
                </a:solidFill>
                <a:latin typeface="Segoe UI"/>
              </a:defRPr>
            </a:pPr>
            <a:r>
              <a:t>★ Strict Policy Compliance: 100% compliant with the Assignment 3 Data Pack across flight cancellations, tiered delays, loyalty benefits, and supervisor escalation rules.</a:t>
            </a:r>
          </a:p>
          <a:p>
            <a:pPr>
              <a:spcAft>
                <a:spcPts val="500"/>
              </a:spcAft>
              <a:defRPr sz="950">
                <a:solidFill>
                  <a:srgbClr val="1E3A8A"/>
                </a:solidFill>
                <a:latin typeface="Segoe UI"/>
              </a:defRPr>
            </a:pPr>
            <a:r>
              <a:t>★ Zero Hallucination Architecture: Decoupled NLU from business logic: AI cannot invent compensation, waive fees over ₹1,500, or grant unauthorized upgrades.</a:t>
            </a:r>
          </a:p>
          <a:p>
            <a:pPr>
              <a:spcAft>
                <a:spcPts val="500"/>
              </a:spcAft>
              <a:defRPr sz="950">
                <a:solidFill>
                  <a:srgbClr val="1E3A8A"/>
                </a:solidFill>
                <a:latin typeface="Segoe UI"/>
              </a:defRPr>
            </a:pPr>
            <a:r>
              <a:t>★ Two-Stage Transaction Safety: Refunds and rebookings require explicit user confirmation cards before database execution, preventing accidental modifications.</a:t>
            </a:r>
          </a:p>
          <a:p>
            <a:pPr>
              <a:spcAft>
                <a:spcPts val="500"/>
              </a:spcAft>
              <a:defRPr sz="950">
                <a:solidFill>
                  <a:srgbClr val="1E3A8A"/>
                </a:solidFill>
                <a:latin typeface="Segoe UI"/>
              </a:defRPr>
            </a:pPr>
            <a:r>
              <a:t>★ Automated Verification Suite: 23/23 unit and integration tests passing in Pytest, ensuring idempotency, policy boundary precision, and session safety.</a:t>
            </a:r>
          </a:p>
          <a:p>
            <a:pPr>
              <a:spcAft>
                <a:spcPts val="500"/>
              </a:spcAft>
              <a:defRPr sz="950">
                <a:solidFill>
                  <a:srgbClr val="1E3A8A"/>
                </a:solidFill>
                <a:latin typeface="Segoe UI"/>
              </a:defRPr>
            </a:pPr>
            <a:r>
              <a:t>★ Production Cloud Deployment: Fully containerized and deployed on Render Free Web Service with live health telemetry and SQLite persistence.</a:t>
            </a:r>
          </a:p>
        </p:txBody>
      </p:sp>
      <p:sp>
        <p:nvSpPr>
          <p:cNvPr id="11" name="Rounded Rectangle 10"/>
          <p:cNvSpPr/>
          <p:nvPr/>
        </p:nvSpPr>
        <p:spPr>
          <a:xfrm>
            <a:off x="6949440" y="1463040"/>
            <a:ext cx="4510735" cy="4663440"/>
          </a:xfrm>
          <a:prstGeom prst="roundRect">
            <a:avLst/>
          </a:prstGeom>
          <a:solidFill>
            <a:srgbClr val="EFF6FF"/>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1554480"/>
            <a:ext cx="4236415" cy="365760"/>
          </a:xfrm>
          <a:prstGeom prst="rect">
            <a:avLst/>
          </a:prstGeom>
          <a:noFill/>
        </p:spPr>
        <p:txBody>
          <a:bodyPr wrap="none">
            <a:spAutoFit/>
          </a:bodyPr>
          <a:lstStyle/>
          <a:p>
            <a:pPr>
              <a:defRPr sz="1100" b="1">
                <a:solidFill>
                  <a:srgbClr val="1E3A8A"/>
                </a:solidFill>
                <a:latin typeface="Segoe UI"/>
              </a:defRPr>
            </a:pPr>
            <a:r>
              <a:t>Project Links &amp; Presenter Details</a:t>
            </a:r>
          </a:p>
        </p:txBody>
      </p:sp>
      <p:sp>
        <p:nvSpPr>
          <p:cNvPr id="13" name="TextBox 12"/>
          <p:cNvSpPr txBox="1"/>
          <p:nvPr/>
        </p:nvSpPr>
        <p:spPr>
          <a:xfrm>
            <a:off x="7132320" y="1920240"/>
            <a:ext cx="4114800" cy="4114800"/>
          </a:xfrm>
          <a:prstGeom prst="rect">
            <a:avLst/>
          </a:prstGeom>
          <a:noFill/>
        </p:spPr>
        <p:txBody>
          <a:bodyPr wrap="square">
            <a:spAutoFit/>
          </a:bodyPr>
          <a:lstStyle/>
          <a:p>
            <a:pPr>
              <a:defRPr sz="900" b="1">
                <a:solidFill>
                  <a:srgbClr val="1D4ED8"/>
                </a:solidFill>
              </a:defRPr>
            </a:pPr>
            <a:r>
              <a:t>PRESENTED BY</a:t>
            </a:r>
          </a:p>
          <a:p>
            <a:pPr>
              <a:spcAft>
                <a:spcPts val="1200"/>
              </a:spcAft>
              <a:defRPr sz="1800" b="1">
                <a:solidFill>
                  <a:srgbClr val="1E3A8A"/>
                </a:solidFill>
              </a:defRPr>
            </a:pPr>
            <a:r>
              <a:t>Vatsal Mittal</a:t>
            </a:r>
          </a:p>
          <a:p>
            <a:pPr>
              <a:defRPr sz="900" b="1">
                <a:solidFill>
                  <a:srgbClr val="1D4ED8"/>
                </a:solidFill>
              </a:defRPr>
            </a:pPr>
            <a:r>
              <a:t>LIVE DEPLOYED APPLICATION</a:t>
            </a:r>
          </a:p>
          <a:p>
            <a:pPr>
              <a:spcAft>
                <a:spcPts val="1200"/>
              </a:spcAft>
              <a:defRPr sz="900">
                <a:solidFill>
                  <a:srgbClr val="1E3A8A"/>
                </a:solidFill>
              </a:defRPr>
            </a:pPr>
            <a:r>
              <a:t>https://customer-resolution-agent-v1.onrender.com</a:t>
            </a:r>
          </a:p>
          <a:p>
            <a:pPr>
              <a:defRPr sz="900" b="1">
                <a:solidFill>
                  <a:srgbClr val="1D4ED8"/>
                </a:solidFill>
              </a:defRPr>
            </a:pPr>
            <a:r>
              <a:t>GITHUB REPOSITORY</a:t>
            </a:r>
          </a:p>
          <a:p>
            <a:pPr>
              <a:spcAft>
                <a:spcPts val="1200"/>
              </a:spcAft>
              <a:defRPr sz="900">
                <a:solidFill>
                  <a:srgbClr val="1E3A8A"/>
                </a:solidFill>
              </a:defRPr>
            </a:pPr>
            <a:r>
              <a:t>https://github.com/vatsa2912/customer-resolution-agent</a:t>
            </a:r>
          </a:p>
          <a:p>
            <a:pPr>
              <a:defRPr sz="950" b="1">
                <a:solidFill>
                  <a:srgbClr val="059669"/>
                </a:solidFill>
              </a:defRPr>
            </a:pPr>
            <a:r>
              <a:t>STATUS: Deployed &amp; Passing 23/23 Pytests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